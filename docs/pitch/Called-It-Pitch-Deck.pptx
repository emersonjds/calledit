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This is 'Called It'. During a live World Cup match you call what happens next — the next goal, corner or card — you stake real SOL, and the chain proves whether you called it. The thrill of a casual bet, but provable and trustless. In the next few minutes I'll show it running end to end on Solana devnet, with a real on-chain transaction you can verify yourselves.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 stage. The World Cup is the single biggest live audience on the planet — billions of people, hundreds of matches. And sports wagering is a trillion-dollar-a-year habit. The appetite is not the problem. The problem is HOW people act on those live moments today. Keep it fast — this slide is just the size of the opportunity.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gap with three cards. One: bookmakers are live but you have to trust a house — opaque odds, opaque settlement. Two: on-chain prediction markets are trustless but post-hoc; they settle after the moment has passed. Three: social 'guess the score' apps are instant and fun but there's no real stake and no proof. Nobody gives you live, real-stakes, AND provable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people. The casual fan — the person who screams 'called it' at the TV and would love to actually stake that instinct. And the skeptic — happy to bet, but only if it's trustless and verifiable, no black-box house. Called It is the one product that satisfies both at once. Keep this human and quick.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product in three beats. Call it live — you predict the next event while the match is happening. Stamped on-chain — that call is a real SOL stake on Solana devnet, verified and stamped with the tx hash. Settled and paid provably — a worker reads the live feed, and if you called it you're paid in SOL by a real transfer. Live, real-stakes, and provable — all three, together.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loop once, fast. Connect Phantom, devnet balance loads. Enter a live match. Make a call and set your stake. Phantom signs a real devnet transfer. The backend verifies that transaction on-chain and stamps the prediction. Then a settlement worker, running every ten seconds, resolves the market off the live feed and pays winners in SOL. Six steps, and every one leaves a verifiable trace.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wedge. Two properties that normally can't coexist: live — you're calling the moment as it happens — and trustless — the stake and settlement are on Solana, verifiable, no house. And it's not just a transfer: provable markets are settled off the TxODDS live feed and cross-checked on-chain by our TxOracle validate_stat program. You call it, the chain proves it. That one line is the whole company.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we actually shipped. One hundred percent of provable markets settle on-chain. Stakes and payouts are real SOL on devnet — real transfers, not points. Calls are placed live during the match. And every stake carries a real transaction hash and block time you can look up. The strip at the bottom is the receipt: deploy green, live fixtures including Spain vs Argentina, a real stake tx, prediction stamped, worker settling every ten seconds.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2x2. Horizontal axis: on-chain provable and trustless, more to the right. Vertical axis: live and in-the-moment, higher up. Top-left, bookmakers — live but you trust the house. Bottom-right, post-hoc prediction markets — trustless but they settle after the fact. Bottom-left, social guess apps — fun but no stake, no proof. The top-right corner, live AND trustless, was empty. That's exactly where Called It sits, alone. You call it, the chain proves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World Cup is the launch moment, not the ceiling. The architecture is feed-driven: the settlement logic is generic over any provable stat, so adding a new sport means adding a feed, not rebuilding the product. Domestic leagues run all year. Basketball, tennis, esports — anything with a live stat feed drops in. And because it's on-chain and a mobile PWA, there's no per-market banking or app-store bottleneck to scale.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trust story in four boxes. Phantom signs a real devnet stake and the backend verifies that transaction on-chain before it stamps anything. The TxODDS TxLINE feed streams live match events over SSE — that's our source of truth. Our TxOracle Anchor program cross-checks the settling stat on-chain before a market pays. And everything is open: every stake has a tx hash and block time anyone can audit. Signed, verified, settled, and public.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horizons. Now: what you're seeing today — devnet demo with live fixtures, real SOL, the core markets, and on-chain settlement. Next: mainnet-beta with a USDC option, more markets per match, tuned odds, smoother wallet onboarding. Later: a multi-sport platform — new sports via new feeds, social and leaderboards, creator-defined markets, and a real liquidity and risk engine.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is a real project, not just a demo. Legally: we frame it as a skill-based, free-to-play game on devnet — no real-money gambling — and on-chain settlement is transparent by design, with a jurisdiction-aware path before any mainnet money. Technically: the full loop already runs, and it's feed-driven so it grows without a rewrite. Operationally: cheap to run, no house float, small mobile-first surface.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on the team. Called It is a full-stack build spanning the hardest boundary in the stack — API, chain, and live feed at once: Solana integration, feed ingestion, the settlement engine, the backend, and the PWA, all the way to a working devnet demo. Point people to called-it.netlify.app and move to the proof.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proof — three real screens. First, the on-chain seal: the call is committed and stamped. Second, the money shot — Called It, Won, Paid, the SOL landed back in the wallet. Third, the actual Solana devnet transaction behind it: status Success, Finalized with max confirmations, 0.01 SOL to the treasury. The panel on the right has the full signature and the explorer link — paste it into the Solana explorer right now and verify it yourselves. This isn't a mockup; it's a real transaction. Try the live demo at called-it.netlify.app. Call it live — and let the chain prove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receipts. Everything on this deck is verifiable. There's the full stake transaction signature — paste it into the Solana explorer on devnet. The prediction id and its stamped values. The live demo URL. The exact API calls that returned 200, including live fixtures for Spain versus Argentina. And the settlement worker that pays winners on-chain. Nothing here is hand-waved — it all resolves to a real transaction or endpoint. Thank you — that's Called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46304" cy="6858000"/>
          </a:xfrm>
          <a:prstGeom prst="rect">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46304" y="0"/>
            <a:ext cx="45720" cy="6858000"/>
          </a:xfrm>
          <a:prstGeom prst="rect">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34440"/>
            <a:ext cx="10881360" cy="320040"/>
          </a:xfrm>
          <a:prstGeom prst="rect">
            <a:avLst/>
          </a:prstGeom>
          <a:noFill/>
        </p:spPr>
        <p:txBody>
          <a:bodyPr wrap="square" anchor="t" lIns="0" rIns="0" tIns="0" bIns="0">
            <a:spAutoFit/>
          </a:bodyPr>
          <a:lstStyle/>
          <a:p>
            <a:pPr algn="l">
              <a:lnSpc>
                <a:spcPct val="100000"/>
              </a:lnSpc>
            </a:pPr>
            <a:r>
              <a:rPr sz="1400" b="0" i="0" spc="400">
                <a:solidFill>
                  <a:srgbClr val="B6FF3C"/>
                </a:solidFill>
                <a:latin typeface="Arial Black"/>
              </a:rPr>
              <a:t>LIVE · ON-CHAIN · WORLD CUP 2026</a:t>
            </a:r>
          </a:p>
        </p:txBody>
      </p:sp>
      <p:sp>
        <p:nvSpPr>
          <p:cNvPr id="6" name="TextBox 5"/>
          <p:cNvSpPr txBox="1"/>
          <p:nvPr/>
        </p:nvSpPr>
        <p:spPr>
          <a:xfrm>
            <a:off x="640080" y="1828800"/>
            <a:ext cx="11155680" cy="1463040"/>
          </a:xfrm>
          <a:prstGeom prst="rect">
            <a:avLst/>
          </a:prstGeom>
          <a:noFill/>
        </p:spPr>
        <p:txBody>
          <a:bodyPr wrap="square" anchor="t" lIns="0" rIns="0" tIns="0" bIns="0">
            <a:spAutoFit/>
          </a:bodyPr>
          <a:lstStyle/>
          <a:p>
            <a:pPr algn="l">
              <a:lnSpc>
                <a:spcPct val="100000"/>
              </a:lnSpc>
            </a:pPr>
            <a:r>
              <a:rPr sz="9000" b="1" i="0">
                <a:solidFill>
                  <a:srgbClr val="E8EEF2"/>
                </a:solidFill>
                <a:latin typeface="Arial Black"/>
              </a:rPr>
              <a:t>Called </a:t>
            </a:r>
            <a:r>
              <a:rPr sz="9000" b="1" i="0">
                <a:solidFill>
                  <a:srgbClr val="B6FF3C"/>
                </a:solidFill>
                <a:latin typeface="Arial Black"/>
              </a:rPr>
              <a:t>It</a:t>
            </a:r>
          </a:p>
        </p:txBody>
      </p:sp>
      <p:sp>
        <p:nvSpPr>
          <p:cNvPr id="7" name="TextBox 6"/>
          <p:cNvSpPr txBox="1"/>
          <p:nvPr/>
        </p:nvSpPr>
        <p:spPr>
          <a:xfrm>
            <a:off x="640080" y="3337560"/>
            <a:ext cx="10607040" cy="82296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Call it live. Prove it on-chain.</a:t>
            </a:r>
          </a:p>
        </p:txBody>
      </p:sp>
      <p:sp>
        <p:nvSpPr>
          <p:cNvPr id="8" name="TextBox 7"/>
          <p:cNvSpPr txBox="1"/>
          <p:nvPr/>
        </p:nvSpPr>
        <p:spPr>
          <a:xfrm>
            <a:off x="640080" y="4114800"/>
            <a:ext cx="9875520" cy="822960"/>
          </a:xfrm>
          <a:prstGeom prst="rect">
            <a:avLst/>
          </a:prstGeom>
          <a:noFill/>
        </p:spPr>
        <p:txBody>
          <a:bodyPr wrap="square" anchor="t" lIns="0" rIns="0" tIns="0" bIns="0">
            <a:spAutoFit/>
          </a:bodyPr>
          <a:lstStyle/>
          <a:p>
            <a:pPr algn="l">
              <a:lnSpc>
                <a:spcPct val="120000"/>
              </a:lnSpc>
            </a:pPr>
            <a:r>
              <a:rPr sz="1600" b="0" i="0">
                <a:solidFill>
                  <a:srgbClr val="8CA0A8"/>
                </a:solidFill>
                <a:latin typeface="Arial"/>
              </a:rPr>
              <a:t>A live, on-chain-verified FIFA World Cup 2026 prediction game on Solana — the thrill of a casual bet, made provable and trustless.</a:t>
            </a:r>
          </a:p>
        </p:txBody>
      </p:sp>
      <p:sp>
        <p:nvSpPr>
          <p:cNvPr id="9" name="Rounded Rectangle 8"/>
          <p:cNvSpPr/>
          <p:nvPr/>
        </p:nvSpPr>
        <p:spPr>
          <a:xfrm>
            <a:off x="640080" y="5257800"/>
            <a:ext cx="1504188" cy="402336"/>
          </a:xfrm>
          <a:prstGeom prst="roundRect">
            <a:avLst>
              <a:gd name="adj" fmla="val 50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257800"/>
            <a:ext cx="1504188" cy="402336"/>
          </a:xfrm>
          <a:prstGeom prst="rect">
            <a:avLst/>
          </a:prstGeom>
          <a:noFill/>
        </p:spPr>
        <p:txBody>
          <a:bodyPr wrap="square" anchor="ctr" lIns="0" rIns="0" tIns="0" bIns="0">
            <a:spAutoFit/>
          </a:bodyPr>
          <a:lstStyle/>
          <a:p>
            <a:pPr algn="ctr">
              <a:lnSpc>
                <a:spcPct val="100000"/>
              </a:lnSpc>
            </a:pPr>
            <a:r>
              <a:rPr sz="1200" b="0" i="0">
                <a:solidFill>
                  <a:srgbClr val="E8EEF2"/>
                </a:solidFill>
                <a:latin typeface="Arial"/>
              </a:rPr>
              <a:t>Solana devnet</a:t>
            </a:r>
          </a:p>
        </p:txBody>
      </p:sp>
      <p:sp>
        <p:nvSpPr>
          <p:cNvPr id="11" name="Rounded Rectangle 10"/>
          <p:cNvSpPr/>
          <p:nvPr/>
        </p:nvSpPr>
        <p:spPr>
          <a:xfrm>
            <a:off x="2308860" y="5257800"/>
            <a:ext cx="1600200" cy="402336"/>
          </a:xfrm>
          <a:prstGeom prst="roundRect">
            <a:avLst>
              <a:gd name="adj" fmla="val 50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08860" y="5257800"/>
            <a:ext cx="1600200" cy="402336"/>
          </a:xfrm>
          <a:prstGeom prst="rect">
            <a:avLst/>
          </a:prstGeom>
          <a:noFill/>
        </p:spPr>
        <p:txBody>
          <a:bodyPr wrap="square" anchor="ctr" lIns="0" rIns="0" tIns="0" bIns="0">
            <a:spAutoFit/>
          </a:bodyPr>
          <a:lstStyle/>
          <a:p>
            <a:pPr algn="ctr">
              <a:lnSpc>
                <a:spcPct val="100000"/>
              </a:lnSpc>
            </a:pPr>
            <a:r>
              <a:rPr sz="1200" b="0" i="0">
                <a:solidFill>
                  <a:srgbClr val="E8EEF2"/>
                </a:solidFill>
                <a:latin typeface="Arial"/>
              </a:rPr>
              <a:t>Phantom wallet</a:t>
            </a:r>
          </a:p>
        </p:txBody>
      </p:sp>
      <p:sp>
        <p:nvSpPr>
          <p:cNvPr id="13" name="Rounded Rectangle 12"/>
          <p:cNvSpPr/>
          <p:nvPr/>
        </p:nvSpPr>
        <p:spPr>
          <a:xfrm>
            <a:off x="4073652" y="5257800"/>
            <a:ext cx="1696212" cy="402336"/>
          </a:xfrm>
          <a:prstGeom prst="roundRect">
            <a:avLst>
              <a:gd name="adj" fmla="val 50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73652" y="5257800"/>
            <a:ext cx="1696212" cy="402336"/>
          </a:xfrm>
          <a:prstGeom prst="rect">
            <a:avLst/>
          </a:prstGeom>
          <a:noFill/>
        </p:spPr>
        <p:txBody>
          <a:bodyPr wrap="square" anchor="ctr" lIns="0" rIns="0" tIns="0" bIns="0">
            <a:spAutoFit/>
          </a:bodyPr>
          <a:lstStyle/>
          <a:p>
            <a:pPr algn="ctr">
              <a:lnSpc>
                <a:spcPct val="100000"/>
              </a:lnSpc>
            </a:pPr>
            <a:r>
              <a:rPr sz="1200" b="0" i="0">
                <a:solidFill>
                  <a:srgbClr val="E8EEF2"/>
                </a:solidFill>
                <a:latin typeface="Arial"/>
              </a:rPr>
              <a:t>Real SOL stakes</a:t>
            </a:r>
          </a:p>
        </p:txBody>
      </p:sp>
      <p:sp>
        <p:nvSpPr>
          <p:cNvPr id="15" name="Rounded Rectangle 14"/>
          <p:cNvSpPr/>
          <p:nvPr/>
        </p:nvSpPr>
        <p:spPr>
          <a:xfrm>
            <a:off x="5934456" y="5257800"/>
            <a:ext cx="1696212" cy="402336"/>
          </a:xfrm>
          <a:prstGeom prst="roundRect">
            <a:avLst>
              <a:gd name="adj" fmla="val 50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34456" y="5257800"/>
            <a:ext cx="1696212" cy="402336"/>
          </a:xfrm>
          <a:prstGeom prst="rect">
            <a:avLst/>
          </a:prstGeom>
          <a:noFill/>
        </p:spPr>
        <p:txBody>
          <a:bodyPr wrap="square" anchor="ctr" lIns="0" rIns="0" tIns="0" bIns="0">
            <a:spAutoFit/>
          </a:bodyPr>
          <a:lstStyle/>
          <a:p>
            <a:pPr algn="ctr">
              <a:lnSpc>
                <a:spcPct val="100000"/>
              </a:lnSpc>
            </a:pPr>
            <a:r>
              <a:rPr sz="1200" b="0" i="0">
                <a:solidFill>
                  <a:srgbClr val="E8EEF2"/>
                </a:solidFill>
                <a:latin typeface="Arial"/>
              </a:rPr>
              <a:t>Live match feed</a:t>
            </a:r>
          </a:p>
        </p:txBody>
      </p:sp>
      <p:sp>
        <p:nvSpPr>
          <p:cNvPr id="17" name="TextBox 16"/>
          <p:cNvSpPr txBox="1"/>
          <p:nvPr/>
        </p:nvSpPr>
        <p:spPr>
          <a:xfrm>
            <a:off x="640080" y="6172200"/>
            <a:ext cx="10972800" cy="320040"/>
          </a:xfrm>
          <a:prstGeom prst="rect">
            <a:avLst/>
          </a:prstGeom>
          <a:noFill/>
        </p:spPr>
        <p:txBody>
          <a:bodyPr wrap="square" anchor="t" lIns="0" rIns="0" tIns="0" bIns="0">
            <a:spAutoFit/>
          </a:bodyPr>
          <a:lstStyle/>
          <a:p>
            <a:pPr algn="l">
              <a:lnSpc>
                <a:spcPct val="100000"/>
              </a:lnSpc>
            </a:pPr>
            <a:r>
              <a:rPr sz="1200" b="0" i="0" spc="100">
                <a:solidFill>
                  <a:srgbClr val="8CA0A8"/>
                </a:solidFill>
                <a:latin typeface="Arial"/>
              </a:rPr>
              <a:t>Solana World Cup 2026 Hackathon — Demo Day  ·  July 2026  ·  called-it.netlify.app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THE MOMENT WE LIVE FOR</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Billions watch. Millions want in on the outcome.</a:t>
            </a:r>
          </a:p>
        </p:txBody>
      </p:sp>
      <p:sp>
        <p:nvSpPr>
          <p:cNvPr id="5" name="Rounded Rectangle 4"/>
          <p:cNvSpPr/>
          <p:nvPr/>
        </p:nvSpPr>
        <p:spPr>
          <a:xfrm>
            <a:off x="640080" y="2148840"/>
            <a:ext cx="3429000" cy="301752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60120" y="2514600"/>
            <a:ext cx="502920" cy="54864"/>
          </a:xfrm>
          <a:prstGeom prst="rect">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743200"/>
            <a:ext cx="2788920" cy="1280160"/>
          </a:xfrm>
          <a:prstGeom prst="rect">
            <a:avLst/>
          </a:prstGeom>
          <a:noFill/>
        </p:spPr>
        <p:txBody>
          <a:bodyPr wrap="square" anchor="t" lIns="0" rIns="0" tIns="0" bIns="0">
            <a:spAutoFit/>
          </a:bodyPr>
          <a:lstStyle/>
          <a:p>
            <a:pPr algn="l">
              <a:lnSpc>
                <a:spcPct val="100000"/>
              </a:lnSpc>
            </a:pPr>
            <a:r>
              <a:rPr sz="6000" b="1" i="0">
                <a:solidFill>
                  <a:srgbClr val="B6FF3C"/>
                </a:solidFill>
                <a:latin typeface="Arial Black"/>
              </a:rPr>
              <a:t>5B+</a:t>
            </a:r>
          </a:p>
        </p:txBody>
      </p:sp>
      <p:sp>
        <p:nvSpPr>
          <p:cNvPr id="8" name="TextBox 7"/>
          <p:cNvSpPr txBox="1"/>
          <p:nvPr/>
        </p:nvSpPr>
        <p:spPr>
          <a:xfrm>
            <a:off x="960120" y="3931920"/>
            <a:ext cx="2788920" cy="1097280"/>
          </a:xfrm>
          <a:prstGeom prst="rect">
            <a:avLst/>
          </a:prstGeom>
          <a:noFill/>
        </p:spPr>
        <p:txBody>
          <a:bodyPr wrap="square" anchor="t" lIns="0" rIns="0" tIns="0" bIns="0">
            <a:spAutoFit/>
          </a:bodyPr>
          <a:lstStyle/>
          <a:p>
            <a:pPr algn="l">
              <a:lnSpc>
                <a:spcPct val="115000"/>
              </a:lnSpc>
            </a:pPr>
            <a:r>
              <a:rPr sz="1500" b="0" i="0">
                <a:solidFill>
                  <a:srgbClr val="E8EEF2"/>
                </a:solidFill>
                <a:latin typeface="Arial"/>
              </a:rPr>
              <a:t>people expected to engage with FIFA World Cup 2026</a:t>
            </a:r>
          </a:p>
        </p:txBody>
      </p:sp>
      <p:sp>
        <p:nvSpPr>
          <p:cNvPr id="9" name="Rounded Rectangle 8"/>
          <p:cNvSpPr/>
          <p:nvPr/>
        </p:nvSpPr>
        <p:spPr>
          <a:xfrm>
            <a:off x="4453128" y="2148840"/>
            <a:ext cx="3429000" cy="301752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73168" y="2514600"/>
            <a:ext cx="502920" cy="54864"/>
          </a:xfrm>
          <a:prstGeom prst="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73168" y="2743200"/>
            <a:ext cx="2788920" cy="1280160"/>
          </a:xfrm>
          <a:prstGeom prst="rect">
            <a:avLst/>
          </a:prstGeom>
          <a:noFill/>
        </p:spPr>
        <p:txBody>
          <a:bodyPr wrap="square" anchor="t" lIns="0" rIns="0" tIns="0" bIns="0">
            <a:spAutoFit/>
          </a:bodyPr>
          <a:lstStyle/>
          <a:p>
            <a:pPr algn="l">
              <a:lnSpc>
                <a:spcPct val="100000"/>
              </a:lnSpc>
            </a:pPr>
            <a:r>
              <a:rPr sz="6000" b="1" i="0">
                <a:solidFill>
                  <a:srgbClr val="E8EEF2"/>
                </a:solidFill>
                <a:latin typeface="Arial Black"/>
              </a:rPr>
              <a:t>48</a:t>
            </a:r>
          </a:p>
        </p:txBody>
      </p:sp>
      <p:sp>
        <p:nvSpPr>
          <p:cNvPr id="12" name="TextBox 11"/>
          <p:cNvSpPr txBox="1"/>
          <p:nvPr/>
        </p:nvSpPr>
        <p:spPr>
          <a:xfrm>
            <a:off x="4773168" y="3931920"/>
            <a:ext cx="2788920" cy="1097280"/>
          </a:xfrm>
          <a:prstGeom prst="rect">
            <a:avLst/>
          </a:prstGeom>
          <a:noFill/>
        </p:spPr>
        <p:txBody>
          <a:bodyPr wrap="square" anchor="t" lIns="0" rIns="0" tIns="0" bIns="0">
            <a:spAutoFit/>
          </a:bodyPr>
          <a:lstStyle/>
          <a:p>
            <a:pPr algn="l">
              <a:lnSpc>
                <a:spcPct val="115000"/>
              </a:lnSpc>
            </a:pPr>
            <a:r>
              <a:rPr sz="1500" b="0" i="0">
                <a:solidFill>
                  <a:srgbClr val="E8EEF2"/>
                </a:solidFill>
                <a:latin typeface="Arial"/>
              </a:rPr>
              <a:t>teams · 104 matches · one global live audience</a:t>
            </a:r>
          </a:p>
        </p:txBody>
      </p:sp>
      <p:sp>
        <p:nvSpPr>
          <p:cNvPr id="13" name="Rounded Rectangle 12"/>
          <p:cNvSpPr/>
          <p:nvPr/>
        </p:nvSpPr>
        <p:spPr>
          <a:xfrm>
            <a:off x="8266176" y="2148840"/>
            <a:ext cx="3429000" cy="301752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586216" y="2514600"/>
            <a:ext cx="502920" cy="54864"/>
          </a:xfrm>
          <a:prstGeom prst="rect">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86216" y="2743200"/>
            <a:ext cx="2788920" cy="1280160"/>
          </a:xfrm>
          <a:prstGeom prst="rect">
            <a:avLst/>
          </a:prstGeom>
          <a:noFill/>
        </p:spPr>
        <p:txBody>
          <a:bodyPr wrap="square" anchor="t" lIns="0" rIns="0" tIns="0" bIns="0">
            <a:spAutoFit/>
          </a:bodyPr>
          <a:lstStyle/>
          <a:p>
            <a:pPr algn="l">
              <a:lnSpc>
                <a:spcPct val="100000"/>
              </a:lnSpc>
            </a:pPr>
            <a:r>
              <a:rPr sz="6000" b="1" i="0">
                <a:solidFill>
                  <a:srgbClr val="FF7A18"/>
                </a:solidFill>
                <a:latin typeface="Arial Black"/>
              </a:rPr>
              <a:t>$1T+</a:t>
            </a:r>
          </a:p>
        </p:txBody>
      </p:sp>
      <p:sp>
        <p:nvSpPr>
          <p:cNvPr id="16" name="TextBox 15"/>
          <p:cNvSpPr txBox="1"/>
          <p:nvPr/>
        </p:nvSpPr>
        <p:spPr>
          <a:xfrm>
            <a:off x="8586216" y="3931920"/>
            <a:ext cx="2788920" cy="1097280"/>
          </a:xfrm>
          <a:prstGeom prst="rect">
            <a:avLst/>
          </a:prstGeom>
          <a:noFill/>
        </p:spPr>
        <p:txBody>
          <a:bodyPr wrap="square" anchor="t" lIns="0" rIns="0" tIns="0" bIns="0">
            <a:spAutoFit/>
          </a:bodyPr>
          <a:lstStyle/>
          <a:p>
            <a:pPr algn="l">
              <a:lnSpc>
                <a:spcPct val="115000"/>
              </a:lnSpc>
            </a:pPr>
            <a:r>
              <a:rPr sz="1500" b="0" i="0">
                <a:solidFill>
                  <a:srgbClr val="E8EEF2"/>
                </a:solidFill>
                <a:latin typeface="Arial"/>
              </a:rPr>
              <a:t>wagered on sports every year — mostly through houses you must trust</a:t>
            </a:r>
          </a:p>
        </p:txBody>
      </p:sp>
      <p:sp>
        <p:nvSpPr>
          <p:cNvPr id="17" name="TextBox 16"/>
          <p:cNvSpPr txBox="1"/>
          <p:nvPr/>
        </p:nvSpPr>
        <p:spPr>
          <a:xfrm>
            <a:off x="640080" y="1572768"/>
            <a:ext cx="10881360" cy="457200"/>
          </a:xfrm>
          <a:prstGeom prst="rect">
            <a:avLst/>
          </a:prstGeom>
          <a:noFill/>
        </p:spPr>
        <p:txBody>
          <a:bodyPr wrap="square" anchor="t" lIns="0" rIns="0" tIns="0" bIns="0">
            <a:spAutoFit/>
          </a:bodyPr>
          <a:lstStyle/>
          <a:p>
            <a:pPr algn="l">
              <a:lnSpc>
                <a:spcPct val="100000"/>
              </a:lnSpc>
            </a:pPr>
            <a:r>
              <a:rPr sz="1500" b="0" i="0">
                <a:solidFill>
                  <a:srgbClr val="8CA0A8"/>
                </a:solidFill>
                <a:latin typeface="Arial"/>
              </a:rPr>
              <a:t>Every match is a stream of </a:t>
            </a:r>
            <a:r>
              <a:rPr sz="1500" b="1" i="0">
                <a:solidFill>
                  <a:srgbClr val="E8EEF2"/>
                </a:solidFill>
                <a:latin typeface="Arial"/>
              </a:rPr>
              <a:t>moments people would bet on</a:t>
            </a:r>
            <a:r>
              <a:rPr sz="1500" b="0" i="0">
                <a:solidFill>
                  <a:srgbClr val="8CA0A8"/>
                </a:solidFill>
                <a:latin typeface="Arial"/>
              </a:rPr>
              <a:t> — but the tools to do it are either untrustworthy or too slow.</a:t>
            </a:r>
          </a:p>
        </p:txBody>
      </p:sp>
      <p:sp>
        <p:nvSpPr>
          <p:cNvPr id="18" name="TextBox 17"/>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Called It  ·  FIFA World Cup 2026  ·  Solana</a:t>
            </a:r>
          </a:p>
        </p:txBody>
      </p:sp>
      <p:sp>
        <p:nvSpPr>
          <p:cNvPr id="19" name="TextBox 18"/>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02 / 16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THE PROBLEM</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Three ways to bet on a live moment — each broken in its own way.</a:t>
            </a:r>
          </a:p>
        </p:txBody>
      </p:sp>
      <p:sp>
        <p:nvSpPr>
          <p:cNvPr id="5" name="Rounded Rectangle 4"/>
          <p:cNvSpPr/>
          <p:nvPr/>
        </p:nvSpPr>
        <p:spPr>
          <a:xfrm>
            <a:off x="640080" y="1965960"/>
            <a:ext cx="3429000" cy="370332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286000"/>
            <a:ext cx="914400" cy="640080"/>
          </a:xfrm>
          <a:prstGeom prst="rect">
            <a:avLst/>
          </a:prstGeom>
          <a:noFill/>
        </p:spPr>
        <p:txBody>
          <a:bodyPr wrap="square" anchor="t" lIns="0" rIns="0" tIns="0" bIns="0">
            <a:spAutoFit/>
          </a:bodyPr>
          <a:lstStyle/>
          <a:p>
            <a:pPr algn="l">
              <a:lnSpc>
                <a:spcPct val="100000"/>
              </a:lnSpc>
            </a:pPr>
            <a:r>
              <a:rPr sz="3400" b="0" i="0">
                <a:solidFill>
                  <a:srgbClr val="E8EEF2"/>
                </a:solidFill>
                <a:latin typeface="Arial"/>
              </a:rPr>
              <a:t>🏦</a:t>
            </a:r>
          </a:p>
        </p:txBody>
      </p:sp>
      <p:sp>
        <p:nvSpPr>
          <p:cNvPr id="7" name="TextBox 6"/>
          <p:cNvSpPr txBox="1"/>
          <p:nvPr/>
        </p:nvSpPr>
        <p:spPr>
          <a:xfrm>
            <a:off x="960120" y="3108960"/>
            <a:ext cx="2788920" cy="822960"/>
          </a:xfrm>
          <a:prstGeom prst="rect">
            <a:avLst/>
          </a:prstGeom>
          <a:noFill/>
        </p:spPr>
        <p:txBody>
          <a:bodyPr wrap="square" anchor="t" lIns="0" rIns="0" tIns="0" bIns="0">
            <a:spAutoFit/>
          </a:bodyPr>
          <a:lstStyle/>
          <a:p>
            <a:pPr algn="l">
              <a:lnSpc>
                <a:spcPct val="105000"/>
              </a:lnSpc>
            </a:pPr>
            <a:r>
              <a:rPr sz="1900" b="1" i="0">
                <a:solidFill>
                  <a:srgbClr val="E8EEF2"/>
                </a:solidFill>
                <a:latin typeface="Arial Black"/>
              </a:rPr>
              <a:t>Bets you must trust a house</a:t>
            </a:r>
          </a:p>
        </p:txBody>
      </p:sp>
      <p:sp>
        <p:nvSpPr>
          <p:cNvPr id="8" name="TextBox 7"/>
          <p:cNvSpPr txBox="1"/>
          <p:nvPr/>
        </p:nvSpPr>
        <p:spPr>
          <a:xfrm>
            <a:off x="960120" y="3931920"/>
            <a:ext cx="2788920" cy="1554480"/>
          </a:xfrm>
          <a:prstGeom prst="rect">
            <a:avLst/>
          </a:prstGeom>
          <a:noFill/>
        </p:spPr>
        <p:txBody>
          <a:bodyPr wrap="square" anchor="t" lIns="0" rIns="0" tIns="0" bIns="0">
            <a:spAutoFit/>
          </a:bodyPr>
          <a:lstStyle/>
          <a:p>
            <a:pPr algn="l">
              <a:lnSpc>
                <a:spcPct val="125000"/>
              </a:lnSpc>
            </a:pPr>
            <a:r>
              <a:rPr sz="1400" b="0" i="0">
                <a:solidFill>
                  <a:srgbClr val="8CA0A8"/>
                </a:solidFill>
                <a:latin typeface="Arial"/>
              </a:rPr>
              <a:t>Traditional bookmakers are live, but centralized and opaque. You never see the true odds, the settlement, or the money. You just have to trust them.</a:t>
            </a:r>
          </a:p>
        </p:txBody>
      </p:sp>
      <p:sp>
        <p:nvSpPr>
          <p:cNvPr id="9" name="Rounded Rectangle 8"/>
          <p:cNvSpPr/>
          <p:nvPr/>
        </p:nvSpPr>
        <p:spPr>
          <a:xfrm>
            <a:off x="4453128" y="1965960"/>
            <a:ext cx="3429000" cy="370332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73168" y="2286000"/>
            <a:ext cx="914400" cy="640080"/>
          </a:xfrm>
          <a:prstGeom prst="rect">
            <a:avLst/>
          </a:prstGeom>
          <a:noFill/>
        </p:spPr>
        <p:txBody>
          <a:bodyPr wrap="square" anchor="t" lIns="0" rIns="0" tIns="0" bIns="0">
            <a:spAutoFit/>
          </a:bodyPr>
          <a:lstStyle/>
          <a:p>
            <a:pPr algn="l">
              <a:lnSpc>
                <a:spcPct val="100000"/>
              </a:lnSpc>
            </a:pPr>
            <a:r>
              <a:rPr sz="3400" b="0" i="0">
                <a:solidFill>
                  <a:srgbClr val="E8EEF2"/>
                </a:solidFill>
                <a:latin typeface="Arial"/>
              </a:rPr>
              <a:t>⏱️</a:t>
            </a:r>
          </a:p>
        </p:txBody>
      </p:sp>
      <p:sp>
        <p:nvSpPr>
          <p:cNvPr id="11" name="TextBox 10"/>
          <p:cNvSpPr txBox="1"/>
          <p:nvPr/>
        </p:nvSpPr>
        <p:spPr>
          <a:xfrm>
            <a:off x="4773168" y="3108960"/>
            <a:ext cx="2788920" cy="822960"/>
          </a:xfrm>
          <a:prstGeom prst="rect">
            <a:avLst/>
          </a:prstGeom>
          <a:noFill/>
        </p:spPr>
        <p:txBody>
          <a:bodyPr wrap="square" anchor="t" lIns="0" rIns="0" tIns="0" bIns="0">
            <a:spAutoFit/>
          </a:bodyPr>
          <a:lstStyle/>
          <a:p>
            <a:pPr algn="l">
              <a:lnSpc>
                <a:spcPct val="105000"/>
              </a:lnSpc>
            </a:pPr>
            <a:r>
              <a:rPr sz="1900" b="1" i="0">
                <a:solidFill>
                  <a:srgbClr val="E8EEF2"/>
                </a:solidFill>
                <a:latin typeface="Arial Black"/>
              </a:rPr>
              <a:t>Post-hoc markets aren't live</a:t>
            </a:r>
          </a:p>
        </p:txBody>
      </p:sp>
      <p:sp>
        <p:nvSpPr>
          <p:cNvPr id="12" name="TextBox 11"/>
          <p:cNvSpPr txBox="1"/>
          <p:nvPr/>
        </p:nvSpPr>
        <p:spPr>
          <a:xfrm>
            <a:off x="4773168" y="3931920"/>
            <a:ext cx="2788920" cy="1554480"/>
          </a:xfrm>
          <a:prstGeom prst="rect">
            <a:avLst/>
          </a:prstGeom>
          <a:noFill/>
        </p:spPr>
        <p:txBody>
          <a:bodyPr wrap="square" anchor="t" lIns="0" rIns="0" tIns="0" bIns="0">
            <a:spAutoFit/>
          </a:bodyPr>
          <a:lstStyle/>
          <a:p>
            <a:pPr algn="l">
              <a:lnSpc>
                <a:spcPct val="125000"/>
              </a:lnSpc>
            </a:pPr>
            <a:r>
              <a:rPr sz="1400" b="0" i="0">
                <a:solidFill>
                  <a:srgbClr val="8CA0A8"/>
                </a:solidFill>
                <a:latin typeface="Arial"/>
              </a:rPr>
              <a:t>On-chain prediction markets are provable — but they resolve after the fact. By the time a market settles, the moment you cared about is long gone.</a:t>
            </a:r>
          </a:p>
        </p:txBody>
      </p:sp>
      <p:sp>
        <p:nvSpPr>
          <p:cNvPr id="13" name="Rounded Rectangle 12"/>
          <p:cNvSpPr/>
          <p:nvPr/>
        </p:nvSpPr>
        <p:spPr>
          <a:xfrm>
            <a:off x="8266176" y="1965960"/>
            <a:ext cx="3429000" cy="370332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86216" y="2286000"/>
            <a:ext cx="914400" cy="640080"/>
          </a:xfrm>
          <a:prstGeom prst="rect">
            <a:avLst/>
          </a:prstGeom>
          <a:noFill/>
        </p:spPr>
        <p:txBody>
          <a:bodyPr wrap="square" anchor="t" lIns="0" rIns="0" tIns="0" bIns="0">
            <a:spAutoFit/>
          </a:bodyPr>
          <a:lstStyle/>
          <a:p>
            <a:pPr algn="l">
              <a:lnSpc>
                <a:spcPct val="100000"/>
              </a:lnSpc>
            </a:pPr>
            <a:r>
              <a:rPr sz="3400" b="0" i="0">
                <a:solidFill>
                  <a:srgbClr val="E8EEF2"/>
                </a:solidFill>
                <a:latin typeface="Arial"/>
              </a:rPr>
              <a:t>🎲</a:t>
            </a:r>
          </a:p>
        </p:txBody>
      </p:sp>
      <p:sp>
        <p:nvSpPr>
          <p:cNvPr id="15" name="TextBox 14"/>
          <p:cNvSpPr txBox="1"/>
          <p:nvPr/>
        </p:nvSpPr>
        <p:spPr>
          <a:xfrm>
            <a:off x="8586216" y="3108960"/>
            <a:ext cx="2788920" cy="822960"/>
          </a:xfrm>
          <a:prstGeom prst="rect">
            <a:avLst/>
          </a:prstGeom>
          <a:noFill/>
        </p:spPr>
        <p:txBody>
          <a:bodyPr wrap="square" anchor="t" lIns="0" rIns="0" tIns="0" bIns="0">
            <a:spAutoFit/>
          </a:bodyPr>
          <a:lstStyle/>
          <a:p>
            <a:pPr algn="l">
              <a:lnSpc>
                <a:spcPct val="105000"/>
              </a:lnSpc>
            </a:pPr>
            <a:r>
              <a:rPr sz="1900" b="1" i="0">
                <a:solidFill>
                  <a:srgbClr val="E8EEF2"/>
                </a:solidFill>
                <a:latin typeface="Arial Black"/>
              </a:rPr>
              <a:t>Casual apps have no stakes</a:t>
            </a:r>
          </a:p>
        </p:txBody>
      </p:sp>
      <p:sp>
        <p:nvSpPr>
          <p:cNvPr id="16" name="TextBox 15"/>
          <p:cNvSpPr txBox="1"/>
          <p:nvPr/>
        </p:nvSpPr>
        <p:spPr>
          <a:xfrm>
            <a:off x="8586216" y="3931920"/>
            <a:ext cx="2788920" cy="1554480"/>
          </a:xfrm>
          <a:prstGeom prst="rect">
            <a:avLst/>
          </a:prstGeom>
          <a:noFill/>
        </p:spPr>
        <p:txBody>
          <a:bodyPr wrap="square" anchor="t" lIns="0" rIns="0" tIns="0" bIns="0">
            <a:spAutoFit/>
          </a:bodyPr>
          <a:lstStyle/>
          <a:p>
            <a:pPr algn="l">
              <a:lnSpc>
                <a:spcPct val="125000"/>
              </a:lnSpc>
            </a:pPr>
            <a:r>
              <a:rPr sz="1400" b="0" i="0">
                <a:solidFill>
                  <a:srgbClr val="8CA0A8"/>
                </a:solidFill>
                <a:latin typeface="Arial"/>
              </a:rPr>
              <a:t>'Guess the score' social apps are fun and instant, but there's no real stake and no proof. Nothing is on the line, so nothing is really at stake.</a:t>
            </a:r>
          </a:p>
        </p:txBody>
      </p:sp>
      <p:sp>
        <p:nvSpPr>
          <p:cNvPr id="17" name="TextBox 16"/>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Called It  ·  FIFA World Cup 2026  ·  Solana</a:t>
            </a:r>
          </a:p>
        </p:txBody>
      </p:sp>
      <p:sp>
        <p:nvSpPr>
          <p:cNvPr id="18" name="TextBox 17"/>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03 / 16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WHO WE BUILD FOR</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Two fans, one unmet need.</a:t>
            </a:r>
          </a:p>
        </p:txBody>
      </p:sp>
      <p:sp>
        <p:nvSpPr>
          <p:cNvPr id="5" name="Rounded Rectangle 4"/>
          <p:cNvSpPr/>
          <p:nvPr/>
        </p:nvSpPr>
        <p:spPr>
          <a:xfrm>
            <a:off x="640080" y="1920240"/>
            <a:ext cx="5257800" cy="3749039"/>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286000"/>
            <a:ext cx="914400" cy="731520"/>
          </a:xfrm>
          <a:prstGeom prst="rect">
            <a:avLst/>
          </a:prstGeom>
          <a:noFill/>
        </p:spPr>
        <p:txBody>
          <a:bodyPr wrap="square" anchor="t" lIns="0" rIns="0" tIns="0" bIns="0">
            <a:spAutoFit/>
          </a:bodyPr>
          <a:lstStyle/>
          <a:p>
            <a:pPr algn="l">
              <a:lnSpc>
                <a:spcPct val="100000"/>
              </a:lnSpc>
            </a:pPr>
            <a:r>
              <a:rPr sz="4000" b="0" i="0">
                <a:solidFill>
                  <a:srgbClr val="FF7A18"/>
                </a:solidFill>
                <a:latin typeface="Arial"/>
              </a:rPr>
              <a:t>🔥</a:t>
            </a:r>
          </a:p>
        </p:txBody>
      </p:sp>
      <p:sp>
        <p:nvSpPr>
          <p:cNvPr id="7" name="TextBox 6"/>
          <p:cNvSpPr txBox="1"/>
          <p:nvPr/>
        </p:nvSpPr>
        <p:spPr>
          <a:xfrm>
            <a:off x="1920240" y="2423160"/>
            <a:ext cx="3703320" cy="548640"/>
          </a:xfrm>
          <a:prstGeom prst="rect">
            <a:avLst/>
          </a:prstGeom>
          <a:noFill/>
        </p:spPr>
        <p:txBody>
          <a:bodyPr wrap="square" anchor="t" lIns="0" rIns="0" tIns="0" bIns="0">
            <a:spAutoFit/>
          </a:bodyPr>
          <a:lstStyle/>
          <a:p>
            <a:pPr algn="l">
              <a:lnSpc>
                <a:spcPct val="100000"/>
              </a:lnSpc>
            </a:pPr>
            <a:r>
              <a:rPr sz="2200" b="1" i="0">
                <a:solidFill>
                  <a:srgbClr val="E8EEF2"/>
                </a:solidFill>
                <a:latin typeface="Arial Black"/>
              </a:rPr>
              <a:t>The casual fan</a:t>
            </a:r>
          </a:p>
        </p:txBody>
      </p:sp>
      <p:sp>
        <p:nvSpPr>
          <p:cNvPr id="8" name="TextBox 7"/>
          <p:cNvSpPr txBox="1"/>
          <p:nvPr/>
        </p:nvSpPr>
        <p:spPr>
          <a:xfrm>
            <a:off x="1051560" y="3337560"/>
            <a:ext cx="4434840" cy="1463040"/>
          </a:xfrm>
          <a:prstGeom prst="rect">
            <a:avLst/>
          </a:prstGeom>
          <a:noFill/>
        </p:spPr>
        <p:txBody>
          <a:bodyPr wrap="square" anchor="t" lIns="0" rIns="0" tIns="0" bIns="0">
            <a:spAutoFit/>
          </a:bodyPr>
          <a:lstStyle/>
          <a:p>
            <a:pPr algn="l">
              <a:lnSpc>
                <a:spcPct val="130000"/>
              </a:lnSpc>
            </a:pPr>
            <a:r>
              <a:rPr sz="1500" b="0" i="0">
                <a:solidFill>
                  <a:srgbClr val="8CA0A8"/>
                </a:solidFill>
                <a:latin typeface="Arial"/>
              </a:rPr>
              <a:t>Watches every match with friends. Loves the rush of calling the next goal out loud. Would happily put a small stake on it — if it were quick, fun, and mobile.</a:t>
            </a:r>
          </a:p>
        </p:txBody>
      </p:sp>
      <p:sp>
        <p:nvSpPr>
          <p:cNvPr id="9" name="Rounded Rectangle 8"/>
          <p:cNvSpPr/>
          <p:nvPr/>
        </p:nvSpPr>
        <p:spPr>
          <a:xfrm>
            <a:off x="1051560" y="4800600"/>
            <a:ext cx="4434840" cy="658368"/>
          </a:xfrm>
          <a:prstGeom prst="roundRect">
            <a:avLst>
              <a:gd name="adj" fmla="val 14000"/>
            </a:avLst>
          </a:prstGeom>
          <a:solidFill>
            <a:srgbClr val="1B2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4800600"/>
            <a:ext cx="4069080" cy="658368"/>
          </a:xfrm>
          <a:prstGeom prst="rect">
            <a:avLst/>
          </a:prstGeom>
          <a:noFill/>
        </p:spPr>
        <p:txBody>
          <a:bodyPr wrap="square" anchor="ctr" lIns="0" rIns="0" tIns="0" bIns="0">
            <a:spAutoFit/>
          </a:bodyPr>
          <a:lstStyle/>
          <a:p>
            <a:pPr algn="l">
              <a:lnSpc>
                <a:spcPct val="105000"/>
              </a:lnSpc>
            </a:pPr>
            <a:r>
              <a:rPr sz="1400" b="0" i="1">
                <a:solidFill>
                  <a:srgbClr val="FF7A18"/>
                </a:solidFill>
                <a:latin typeface="Arial"/>
              </a:rPr>
              <a:t>“I called that corner — now let me actually cash it in.”</a:t>
            </a:r>
          </a:p>
        </p:txBody>
      </p:sp>
      <p:sp>
        <p:nvSpPr>
          <p:cNvPr id="11" name="Rounded Rectangle 10"/>
          <p:cNvSpPr/>
          <p:nvPr/>
        </p:nvSpPr>
        <p:spPr>
          <a:xfrm>
            <a:off x="6281928" y="1920240"/>
            <a:ext cx="5257800" cy="3749039"/>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93408" y="2286000"/>
            <a:ext cx="914400" cy="731520"/>
          </a:xfrm>
          <a:prstGeom prst="rect">
            <a:avLst/>
          </a:prstGeom>
          <a:noFill/>
        </p:spPr>
        <p:txBody>
          <a:bodyPr wrap="square" anchor="t" lIns="0" rIns="0" tIns="0" bIns="0">
            <a:spAutoFit/>
          </a:bodyPr>
          <a:lstStyle/>
          <a:p>
            <a:pPr algn="l">
              <a:lnSpc>
                <a:spcPct val="100000"/>
              </a:lnSpc>
            </a:pPr>
            <a:r>
              <a:rPr sz="4000" b="0" i="0">
                <a:solidFill>
                  <a:srgbClr val="B6FF3C"/>
                </a:solidFill>
                <a:latin typeface="Arial"/>
              </a:rPr>
              <a:t>🛡️</a:t>
            </a:r>
          </a:p>
        </p:txBody>
      </p:sp>
      <p:sp>
        <p:nvSpPr>
          <p:cNvPr id="13" name="TextBox 12"/>
          <p:cNvSpPr txBox="1"/>
          <p:nvPr/>
        </p:nvSpPr>
        <p:spPr>
          <a:xfrm>
            <a:off x="7562088" y="2423160"/>
            <a:ext cx="3703320" cy="548640"/>
          </a:xfrm>
          <a:prstGeom prst="rect">
            <a:avLst/>
          </a:prstGeom>
          <a:noFill/>
        </p:spPr>
        <p:txBody>
          <a:bodyPr wrap="square" anchor="t" lIns="0" rIns="0" tIns="0" bIns="0">
            <a:spAutoFit/>
          </a:bodyPr>
          <a:lstStyle/>
          <a:p>
            <a:pPr algn="l">
              <a:lnSpc>
                <a:spcPct val="100000"/>
              </a:lnSpc>
            </a:pPr>
            <a:r>
              <a:rPr sz="2200" b="1" i="0">
                <a:solidFill>
                  <a:srgbClr val="E8EEF2"/>
                </a:solidFill>
                <a:latin typeface="Arial Black"/>
              </a:rPr>
              <a:t>The skeptic</a:t>
            </a:r>
          </a:p>
        </p:txBody>
      </p:sp>
      <p:sp>
        <p:nvSpPr>
          <p:cNvPr id="14" name="TextBox 13"/>
          <p:cNvSpPr txBox="1"/>
          <p:nvPr/>
        </p:nvSpPr>
        <p:spPr>
          <a:xfrm>
            <a:off x="6693408" y="3337560"/>
            <a:ext cx="4434840" cy="1463040"/>
          </a:xfrm>
          <a:prstGeom prst="rect">
            <a:avLst/>
          </a:prstGeom>
          <a:noFill/>
        </p:spPr>
        <p:txBody>
          <a:bodyPr wrap="square" anchor="t" lIns="0" rIns="0" tIns="0" bIns="0">
            <a:spAutoFit/>
          </a:bodyPr>
          <a:lstStyle/>
          <a:p>
            <a:pPr algn="l">
              <a:lnSpc>
                <a:spcPct val="130000"/>
              </a:lnSpc>
            </a:pPr>
            <a:r>
              <a:rPr sz="1500" b="0" i="0">
                <a:solidFill>
                  <a:srgbClr val="8CA0A8"/>
                </a:solidFill>
                <a:latin typeface="Arial"/>
              </a:rPr>
              <a:t>Enjoys a bet but refuses to trust a black-box house. Wants to see the odds, the stake, and the settlement. If it's not verifiable, they're out.</a:t>
            </a:r>
          </a:p>
        </p:txBody>
      </p:sp>
      <p:sp>
        <p:nvSpPr>
          <p:cNvPr id="15" name="Rounded Rectangle 14"/>
          <p:cNvSpPr/>
          <p:nvPr/>
        </p:nvSpPr>
        <p:spPr>
          <a:xfrm>
            <a:off x="6693408" y="4800600"/>
            <a:ext cx="4434840" cy="658368"/>
          </a:xfrm>
          <a:prstGeom prst="roundRect">
            <a:avLst>
              <a:gd name="adj" fmla="val 14000"/>
            </a:avLst>
          </a:prstGeom>
          <a:solidFill>
            <a:srgbClr val="1B24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22008" y="4800600"/>
            <a:ext cx="4069080" cy="658368"/>
          </a:xfrm>
          <a:prstGeom prst="rect">
            <a:avLst/>
          </a:prstGeom>
          <a:noFill/>
        </p:spPr>
        <p:txBody>
          <a:bodyPr wrap="square" anchor="ctr" lIns="0" rIns="0" tIns="0" bIns="0">
            <a:spAutoFit/>
          </a:bodyPr>
          <a:lstStyle/>
          <a:p>
            <a:pPr algn="l">
              <a:lnSpc>
                <a:spcPct val="105000"/>
              </a:lnSpc>
            </a:pPr>
            <a:r>
              <a:rPr sz="1400" b="0" i="1">
                <a:solidFill>
                  <a:srgbClr val="B6FF3C"/>
                </a:solidFill>
                <a:latin typeface="Arial"/>
              </a:rPr>
              <a:t>“Don't tell me I won. Show me on-chain.”</a:t>
            </a:r>
          </a:p>
        </p:txBody>
      </p:sp>
      <p:sp>
        <p:nvSpPr>
          <p:cNvPr id="17" name="TextBox 16"/>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Called It  ·  FIFA World Cup 2026  ·  Solana</a:t>
            </a:r>
          </a:p>
        </p:txBody>
      </p:sp>
      <p:sp>
        <p:nvSpPr>
          <p:cNvPr id="18" name="TextBox 17"/>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04 / 16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THE SOLUTION</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Called It — call live, stamp on-chain, settle provably.</a:t>
            </a:r>
          </a:p>
        </p:txBody>
      </p:sp>
      <p:sp>
        <p:nvSpPr>
          <p:cNvPr id="5" name="Rounded Rectangle 4"/>
          <p:cNvSpPr/>
          <p:nvPr/>
        </p:nvSpPr>
        <p:spPr>
          <a:xfrm>
            <a:off x="640080" y="1965960"/>
            <a:ext cx="3429000" cy="3703320"/>
          </a:xfrm>
          <a:prstGeom prst="roundRect">
            <a:avLst>
              <a:gd name="adj" fmla="val 6000"/>
            </a:avLst>
          </a:prstGeom>
          <a:solidFill>
            <a:srgbClr val="131A21"/>
          </a:solidFill>
          <a:ln w="15875">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258568"/>
            <a:ext cx="1280160" cy="822960"/>
          </a:xfrm>
          <a:prstGeom prst="rect">
            <a:avLst/>
          </a:prstGeom>
          <a:noFill/>
        </p:spPr>
        <p:txBody>
          <a:bodyPr wrap="square" anchor="t" lIns="0" rIns="0" tIns="0" bIns="0">
            <a:spAutoFit/>
          </a:bodyPr>
          <a:lstStyle/>
          <a:p>
            <a:pPr algn="l">
              <a:lnSpc>
                <a:spcPct val="100000"/>
              </a:lnSpc>
            </a:pPr>
            <a:r>
              <a:rPr sz="4400" b="1" i="0">
                <a:solidFill>
                  <a:srgbClr val="B6FF3C"/>
                </a:solidFill>
                <a:latin typeface="Arial Black"/>
              </a:rPr>
              <a:t>1</a:t>
            </a:r>
          </a:p>
        </p:txBody>
      </p:sp>
      <p:sp>
        <p:nvSpPr>
          <p:cNvPr id="7" name="TextBox 6"/>
          <p:cNvSpPr txBox="1"/>
          <p:nvPr/>
        </p:nvSpPr>
        <p:spPr>
          <a:xfrm>
            <a:off x="960120" y="3200400"/>
            <a:ext cx="2788920" cy="822960"/>
          </a:xfrm>
          <a:prstGeom prst="rect">
            <a:avLst/>
          </a:prstGeom>
          <a:noFill/>
        </p:spPr>
        <p:txBody>
          <a:bodyPr wrap="square" anchor="t" lIns="0" rIns="0" tIns="0" bIns="0">
            <a:spAutoFit/>
          </a:bodyPr>
          <a:lstStyle/>
          <a:p>
            <a:pPr algn="l">
              <a:lnSpc>
                <a:spcPct val="105000"/>
              </a:lnSpc>
            </a:pPr>
            <a:r>
              <a:rPr sz="2000" b="1" i="0">
                <a:solidFill>
                  <a:srgbClr val="E8EEF2"/>
                </a:solidFill>
                <a:latin typeface="Arial Black"/>
              </a:rPr>
              <a:t>Call it live</a:t>
            </a:r>
          </a:p>
        </p:txBody>
      </p:sp>
      <p:sp>
        <p:nvSpPr>
          <p:cNvPr id="8" name="TextBox 7"/>
          <p:cNvSpPr txBox="1"/>
          <p:nvPr/>
        </p:nvSpPr>
        <p:spPr>
          <a:xfrm>
            <a:off x="960120" y="3977640"/>
            <a:ext cx="2788920" cy="1554480"/>
          </a:xfrm>
          <a:prstGeom prst="rect">
            <a:avLst/>
          </a:prstGeom>
          <a:noFill/>
        </p:spPr>
        <p:txBody>
          <a:bodyPr wrap="square" anchor="t" lIns="0" rIns="0" tIns="0" bIns="0">
            <a:spAutoFit/>
          </a:bodyPr>
          <a:lstStyle/>
          <a:p>
            <a:pPr algn="l">
              <a:lnSpc>
                <a:spcPct val="128000"/>
              </a:lnSpc>
            </a:pPr>
            <a:r>
              <a:rPr sz="1400" b="0" i="0">
                <a:solidFill>
                  <a:srgbClr val="8CA0A8"/>
                </a:solidFill>
                <a:latin typeface="Arial"/>
              </a:rPr>
              <a:t>During the match, call what happens next — next goal, corner or card — before it resolves. Instant, mobile, in the moment.</a:t>
            </a:r>
          </a:p>
        </p:txBody>
      </p:sp>
      <p:sp>
        <p:nvSpPr>
          <p:cNvPr id="9" name="Rounded Rectangle 8"/>
          <p:cNvSpPr/>
          <p:nvPr/>
        </p:nvSpPr>
        <p:spPr>
          <a:xfrm>
            <a:off x="4453128" y="1965960"/>
            <a:ext cx="3429000" cy="3703320"/>
          </a:xfrm>
          <a:prstGeom prst="roundRect">
            <a:avLst>
              <a:gd name="adj" fmla="val 6000"/>
            </a:avLst>
          </a:prstGeom>
          <a:solidFill>
            <a:srgbClr val="131A21"/>
          </a:solidFill>
          <a:ln w="15875">
            <a:solidFill>
              <a:srgbClr val="FF7A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773168" y="2258568"/>
            <a:ext cx="1280160" cy="822960"/>
          </a:xfrm>
          <a:prstGeom prst="rect">
            <a:avLst/>
          </a:prstGeom>
          <a:noFill/>
        </p:spPr>
        <p:txBody>
          <a:bodyPr wrap="square" anchor="t" lIns="0" rIns="0" tIns="0" bIns="0">
            <a:spAutoFit/>
          </a:bodyPr>
          <a:lstStyle/>
          <a:p>
            <a:pPr algn="l">
              <a:lnSpc>
                <a:spcPct val="100000"/>
              </a:lnSpc>
            </a:pPr>
            <a:r>
              <a:rPr sz="4400" b="1" i="0">
                <a:solidFill>
                  <a:srgbClr val="FF7A18"/>
                </a:solidFill>
                <a:latin typeface="Arial Black"/>
              </a:rPr>
              <a:t>2</a:t>
            </a:r>
          </a:p>
        </p:txBody>
      </p:sp>
      <p:sp>
        <p:nvSpPr>
          <p:cNvPr id="11" name="TextBox 10"/>
          <p:cNvSpPr txBox="1"/>
          <p:nvPr/>
        </p:nvSpPr>
        <p:spPr>
          <a:xfrm>
            <a:off x="4773168" y="3200400"/>
            <a:ext cx="2788920" cy="822960"/>
          </a:xfrm>
          <a:prstGeom prst="rect">
            <a:avLst/>
          </a:prstGeom>
          <a:noFill/>
        </p:spPr>
        <p:txBody>
          <a:bodyPr wrap="square" anchor="t" lIns="0" rIns="0" tIns="0" bIns="0">
            <a:spAutoFit/>
          </a:bodyPr>
          <a:lstStyle/>
          <a:p>
            <a:pPr algn="l">
              <a:lnSpc>
                <a:spcPct val="105000"/>
              </a:lnSpc>
            </a:pPr>
            <a:r>
              <a:rPr sz="2000" b="1" i="0">
                <a:solidFill>
                  <a:srgbClr val="E8EEF2"/>
                </a:solidFill>
                <a:latin typeface="Arial Black"/>
              </a:rPr>
              <a:t>Stamped on-chain</a:t>
            </a:r>
          </a:p>
        </p:txBody>
      </p:sp>
      <p:sp>
        <p:nvSpPr>
          <p:cNvPr id="12" name="TextBox 11"/>
          <p:cNvSpPr txBox="1"/>
          <p:nvPr/>
        </p:nvSpPr>
        <p:spPr>
          <a:xfrm>
            <a:off x="4773168" y="3977640"/>
            <a:ext cx="2788920" cy="1554480"/>
          </a:xfrm>
          <a:prstGeom prst="rect">
            <a:avLst/>
          </a:prstGeom>
          <a:noFill/>
        </p:spPr>
        <p:txBody>
          <a:bodyPr wrap="square" anchor="t" lIns="0" rIns="0" tIns="0" bIns="0">
            <a:spAutoFit/>
          </a:bodyPr>
          <a:lstStyle/>
          <a:p>
            <a:pPr algn="l">
              <a:lnSpc>
                <a:spcPct val="128000"/>
              </a:lnSpc>
            </a:pPr>
            <a:r>
              <a:rPr sz="1400" b="0" i="0">
                <a:solidFill>
                  <a:srgbClr val="8CA0A8"/>
                </a:solidFill>
                <a:latin typeface="Arial"/>
              </a:rPr>
              <a:t>Your call is a real devnet SOL stake, verified on Solana by the backend and stamped with the transaction hash and block time.</a:t>
            </a:r>
          </a:p>
        </p:txBody>
      </p:sp>
      <p:sp>
        <p:nvSpPr>
          <p:cNvPr id="13" name="Rounded Rectangle 12"/>
          <p:cNvSpPr/>
          <p:nvPr/>
        </p:nvSpPr>
        <p:spPr>
          <a:xfrm>
            <a:off x="8266176" y="1965960"/>
            <a:ext cx="3429000" cy="3703320"/>
          </a:xfrm>
          <a:prstGeom prst="roundRect">
            <a:avLst>
              <a:gd name="adj" fmla="val 6000"/>
            </a:avLst>
          </a:prstGeom>
          <a:solidFill>
            <a:srgbClr val="131A21"/>
          </a:solidFill>
          <a:ln w="15875">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86216" y="2258568"/>
            <a:ext cx="1280160" cy="822960"/>
          </a:xfrm>
          <a:prstGeom prst="rect">
            <a:avLst/>
          </a:prstGeom>
          <a:noFill/>
        </p:spPr>
        <p:txBody>
          <a:bodyPr wrap="square" anchor="t" lIns="0" rIns="0" tIns="0" bIns="0">
            <a:spAutoFit/>
          </a:bodyPr>
          <a:lstStyle/>
          <a:p>
            <a:pPr algn="l">
              <a:lnSpc>
                <a:spcPct val="100000"/>
              </a:lnSpc>
            </a:pPr>
            <a:r>
              <a:rPr sz="4400" b="1" i="0">
                <a:solidFill>
                  <a:srgbClr val="B6FF3C"/>
                </a:solidFill>
                <a:latin typeface="Arial Black"/>
              </a:rPr>
              <a:t>3</a:t>
            </a:r>
          </a:p>
        </p:txBody>
      </p:sp>
      <p:sp>
        <p:nvSpPr>
          <p:cNvPr id="15" name="TextBox 14"/>
          <p:cNvSpPr txBox="1"/>
          <p:nvPr/>
        </p:nvSpPr>
        <p:spPr>
          <a:xfrm>
            <a:off x="8586216" y="3200400"/>
            <a:ext cx="2788920" cy="822960"/>
          </a:xfrm>
          <a:prstGeom prst="rect">
            <a:avLst/>
          </a:prstGeom>
          <a:noFill/>
        </p:spPr>
        <p:txBody>
          <a:bodyPr wrap="square" anchor="t" lIns="0" rIns="0" tIns="0" bIns="0">
            <a:spAutoFit/>
          </a:bodyPr>
          <a:lstStyle/>
          <a:p>
            <a:pPr algn="l">
              <a:lnSpc>
                <a:spcPct val="105000"/>
              </a:lnSpc>
            </a:pPr>
            <a:r>
              <a:rPr sz="2000" b="1" i="0">
                <a:solidFill>
                  <a:srgbClr val="E8EEF2"/>
                </a:solidFill>
                <a:latin typeface="Arial Black"/>
              </a:rPr>
              <a:t>Settled &amp; paid provably</a:t>
            </a:r>
          </a:p>
        </p:txBody>
      </p:sp>
      <p:sp>
        <p:nvSpPr>
          <p:cNvPr id="16" name="TextBox 15"/>
          <p:cNvSpPr txBox="1"/>
          <p:nvPr/>
        </p:nvSpPr>
        <p:spPr>
          <a:xfrm>
            <a:off x="8586216" y="3977640"/>
            <a:ext cx="2788920" cy="1554480"/>
          </a:xfrm>
          <a:prstGeom prst="rect">
            <a:avLst/>
          </a:prstGeom>
          <a:noFill/>
        </p:spPr>
        <p:txBody>
          <a:bodyPr wrap="square" anchor="t" lIns="0" rIns="0" tIns="0" bIns="0">
            <a:spAutoFit/>
          </a:bodyPr>
          <a:lstStyle/>
          <a:p>
            <a:pPr algn="l">
              <a:lnSpc>
                <a:spcPct val="128000"/>
              </a:lnSpc>
            </a:pPr>
            <a:r>
              <a:rPr sz="1400" b="0" i="0">
                <a:solidFill>
                  <a:srgbClr val="8CA0A8"/>
                </a:solidFill>
                <a:latin typeface="Arial"/>
              </a:rPr>
              <a:t>A settlement worker resolves the market off the live feed. Called it → paid in SOL by a real transfer. No house, no dispute.</a:t>
            </a:r>
          </a:p>
        </p:txBody>
      </p:sp>
      <p:sp>
        <p:nvSpPr>
          <p:cNvPr id="17" name="TextBox 16"/>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Called It  ·  FIFA World Cup 2026  ·  Solana</a:t>
            </a:r>
          </a:p>
        </p:txBody>
      </p:sp>
      <p:sp>
        <p:nvSpPr>
          <p:cNvPr id="18" name="TextBox 17"/>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05 / 16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HOW IT WORKS</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From tap to payout — six steps, one live loop.</a:t>
            </a:r>
          </a:p>
        </p:txBody>
      </p:sp>
      <p:sp>
        <p:nvSpPr>
          <p:cNvPr id="5" name="Rounded Rectangle 4"/>
          <p:cNvSpPr/>
          <p:nvPr/>
        </p:nvSpPr>
        <p:spPr>
          <a:xfrm>
            <a:off x="640080" y="1783080"/>
            <a:ext cx="1696212" cy="841248"/>
          </a:xfrm>
          <a:prstGeom prst="roundRect">
            <a:avLst>
              <a:gd name="adj" fmla="val 12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783080"/>
            <a:ext cx="64008" cy="841248"/>
          </a:xfrm>
          <a:prstGeom prst="rect">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01952"/>
            <a:ext cx="502920" cy="411480"/>
          </a:xfrm>
          <a:prstGeom prst="rect">
            <a:avLst/>
          </a:prstGeom>
          <a:noFill/>
        </p:spPr>
        <p:txBody>
          <a:bodyPr wrap="square" anchor="t" lIns="0" rIns="0" tIns="0" bIns="0">
            <a:spAutoFit/>
          </a:bodyPr>
          <a:lstStyle/>
          <a:p>
            <a:pPr algn="l">
              <a:lnSpc>
                <a:spcPct val="100000"/>
              </a:lnSpc>
            </a:pPr>
            <a:r>
              <a:rPr sz="2200" b="1" i="0">
                <a:solidFill>
                  <a:srgbClr val="B6FF3C"/>
                </a:solidFill>
                <a:latin typeface="Arial Black"/>
              </a:rPr>
              <a:t>1</a:t>
            </a:r>
          </a:p>
        </p:txBody>
      </p:sp>
      <p:sp>
        <p:nvSpPr>
          <p:cNvPr id="8" name="TextBox 7"/>
          <p:cNvSpPr txBox="1"/>
          <p:nvPr/>
        </p:nvSpPr>
        <p:spPr>
          <a:xfrm>
            <a:off x="822960" y="2240280"/>
            <a:ext cx="1376172" cy="347472"/>
          </a:xfrm>
          <a:prstGeom prst="rect">
            <a:avLst/>
          </a:prstGeom>
          <a:noFill/>
        </p:spPr>
        <p:txBody>
          <a:bodyPr wrap="square" anchor="t" lIns="0" rIns="0" tIns="0" bIns="0">
            <a:spAutoFit/>
          </a:bodyPr>
          <a:lstStyle/>
          <a:p>
            <a:pPr algn="l">
              <a:lnSpc>
                <a:spcPct val="100000"/>
              </a:lnSpc>
            </a:pPr>
            <a:r>
              <a:rPr sz="1150" b="1" i="0">
                <a:solidFill>
                  <a:srgbClr val="E8EEF2"/>
                </a:solidFill>
                <a:latin typeface="Arial"/>
              </a:rPr>
              <a:t>Connect Phantom</a:t>
            </a:r>
          </a:p>
        </p:txBody>
      </p:sp>
      <p:sp>
        <p:nvSpPr>
          <p:cNvPr id="9" name="Rounded Rectangle 8"/>
          <p:cNvSpPr/>
          <p:nvPr/>
        </p:nvSpPr>
        <p:spPr>
          <a:xfrm>
            <a:off x="2482596" y="1783080"/>
            <a:ext cx="1696212" cy="841248"/>
          </a:xfrm>
          <a:prstGeom prst="roundRect">
            <a:avLst>
              <a:gd name="adj" fmla="val 12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82596" y="1783080"/>
            <a:ext cx="64008" cy="841248"/>
          </a:xfrm>
          <a:prstGeom prst="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683764" y="1901952"/>
            <a:ext cx="502920" cy="411480"/>
          </a:xfrm>
          <a:prstGeom prst="rect">
            <a:avLst/>
          </a:prstGeom>
          <a:noFill/>
        </p:spPr>
        <p:txBody>
          <a:bodyPr wrap="square" anchor="t" lIns="0" rIns="0" tIns="0" bIns="0">
            <a:spAutoFit/>
          </a:bodyPr>
          <a:lstStyle/>
          <a:p>
            <a:pPr algn="l">
              <a:lnSpc>
                <a:spcPct val="100000"/>
              </a:lnSpc>
            </a:pPr>
            <a:r>
              <a:rPr sz="2200" b="1" i="0">
                <a:solidFill>
                  <a:srgbClr val="E8EEF2"/>
                </a:solidFill>
                <a:latin typeface="Arial Black"/>
              </a:rPr>
              <a:t>2</a:t>
            </a:r>
          </a:p>
        </p:txBody>
      </p:sp>
      <p:sp>
        <p:nvSpPr>
          <p:cNvPr id="12" name="TextBox 11"/>
          <p:cNvSpPr txBox="1"/>
          <p:nvPr/>
        </p:nvSpPr>
        <p:spPr>
          <a:xfrm>
            <a:off x="2665476" y="2240280"/>
            <a:ext cx="1376172" cy="347472"/>
          </a:xfrm>
          <a:prstGeom prst="rect">
            <a:avLst/>
          </a:prstGeom>
          <a:noFill/>
        </p:spPr>
        <p:txBody>
          <a:bodyPr wrap="square" anchor="t" lIns="0" rIns="0" tIns="0" bIns="0">
            <a:spAutoFit/>
          </a:bodyPr>
          <a:lstStyle/>
          <a:p>
            <a:pPr algn="l">
              <a:lnSpc>
                <a:spcPct val="100000"/>
              </a:lnSpc>
            </a:pPr>
            <a:r>
              <a:rPr sz="1150" b="1" i="0">
                <a:solidFill>
                  <a:srgbClr val="E8EEF2"/>
                </a:solidFill>
                <a:latin typeface="Arial"/>
              </a:rPr>
              <a:t>See a live match</a:t>
            </a:r>
          </a:p>
        </p:txBody>
      </p:sp>
      <p:sp>
        <p:nvSpPr>
          <p:cNvPr id="13" name="Rounded Rectangle 12"/>
          <p:cNvSpPr/>
          <p:nvPr/>
        </p:nvSpPr>
        <p:spPr>
          <a:xfrm>
            <a:off x="4325112" y="1783080"/>
            <a:ext cx="1696212" cy="841248"/>
          </a:xfrm>
          <a:prstGeom prst="roundRect">
            <a:avLst>
              <a:gd name="adj" fmla="val 12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25112" y="1783080"/>
            <a:ext cx="64008" cy="841248"/>
          </a:xfrm>
          <a:prstGeom prst="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26280" y="1901952"/>
            <a:ext cx="502920" cy="411480"/>
          </a:xfrm>
          <a:prstGeom prst="rect">
            <a:avLst/>
          </a:prstGeom>
          <a:noFill/>
        </p:spPr>
        <p:txBody>
          <a:bodyPr wrap="square" anchor="t" lIns="0" rIns="0" tIns="0" bIns="0">
            <a:spAutoFit/>
          </a:bodyPr>
          <a:lstStyle/>
          <a:p>
            <a:pPr algn="l">
              <a:lnSpc>
                <a:spcPct val="100000"/>
              </a:lnSpc>
            </a:pPr>
            <a:r>
              <a:rPr sz="2200" b="1" i="0">
                <a:solidFill>
                  <a:srgbClr val="E8EEF2"/>
                </a:solidFill>
                <a:latin typeface="Arial Black"/>
              </a:rPr>
              <a:t>3</a:t>
            </a:r>
          </a:p>
        </p:txBody>
      </p:sp>
      <p:sp>
        <p:nvSpPr>
          <p:cNvPr id="16" name="TextBox 15"/>
          <p:cNvSpPr txBox="1"/>
          <p:nvPr/>
        </p:nvSpPr>
        <p:spPr>
          <a:xfrm>
            <a:off x="4507992" y="2240280"/>
            <a:ext cx="1376172" cy="347472"/>
          </a:xfrm>
          <a:prstGeom prst="rect">
            <a:avLst/>
          </a:prstGeom>
          <a:noFill/>
        </p:spPr>
        <p:txBody>
          <a:bodyPr wrap="square" anchor="t" lIns="0" rIns="0" tIns="0" bIns="0">
            <a:spAutoFit/>
          </a:bodyPr>
          <a:lstStyle/>
          <a:p>
            <a:pPr algn="l">
              <a:lnSpc>
                <a:spcPct val="100000"/>
              </a:lnSpc>
            </a:pPr>
            <a:r>
              <a:rPr sz="1150" b="1" i="0">
                <a:solidFill>
                  <a:srgbClr val="E8EEF2"/>
                </a:solidFill>
                <a:latin typeface="Arial"/>
              </a:rPr>
              <a:t>Make a call</a:t>
            </a:r>
          </a:p>
        </p:txBody>
      </p:sp>
      <p:sp>
        <p:nvSpPr>
          <p:cNvPr id="17" name="Rounded Rectangle 16"/>
          <p:cNvSpPr/>
          <p:nvPr/>
        </p:nvSpPr>
        <p:spPr>
          <a:xfrm>
            <a:off x="6167628" y="1783080"/>
            <a:ext cx="1696212" cy="841248"/>
          </a:xfrm>
          <a:prstGeom prst="roundRect">
            <a:avLst>
              <a:gd name="adj" fmla="val 12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67628" y="1783080"/>
            <a:ext cx="64008" cy="841248"/>
          </a:xfrm>
          <a:prstGeom prst="rect">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68796" y="1901952"/>
            <a:ext cx="502920" cy="411480"/>
          </a:xfrm>
          <a:prstGeom prst="rect">
            <a:avLst/>
          </a:prstGeom>
          <a:noFill/>
        </p:spPr>
        <p:txBody>
          <a:bodyPr wrap="square" anchor="t" lIns="0" rIns="0" tIns="0" bIns="0">
            <a:spAutoFit/>
          </a:bodyPr>
          <a:lstStyle/>
          <a:p>
            <a:pPr algn="l">
              <a:lnSpc>
                <a:spcPct val="100000"/>
              </a:lnSpc>
            </a:pPr>
            <a:r>
              <a:rPr sz="2200" b="1" i="0">
                <a:solidFill>
                  <a:srgbClr val="FF7A18"/>
                </a:solidFill>
                <a:latin typeface="Arial Black"/>
              </a:rPr>
              <a:t>4</a:t>
            </a:r>
          </a:p>
        </p:txBody>
      </p:sp>
      <p:sp>
        <p:nvSpPr>
          <p:cNvPr id="20" name="TextBox 19"/>
          <p:cNvSpPr txBox="1"/>
          <p:nvPr/>
        </p:nvSpPr>
        <p:spPr>
          <a:xfrm>
            <a:off x="6350508" y="2240280"/>
            <a:ext cx="1376172" cy="347472"/>
          </a:xfrm>
          <a:prstGeom prst="rect">
            <a:avLst/>
          </a:prstGeom>
          <a:noFill/>
        </p:spPr>
        <p:txBody>
          <a:bodyPr wrap="square" anchor="t" lIns="0" rIns="0" tIns="0" bIns="0">
            <a:spAutoFit/>
          </a:bodyPr>
          <a:lstStyle/>
          <a:p>
            <a:pPr algn="l">
              <a:lnSpc>
                <a:spcPct val="100000"/>
              </a:lnSpc>
            </a:pPr>
            <a:r>
              <a:rPr sz="1150" b="1" i="0">
                <a:solidFill>
                  <a:srgbClr val="E8EEF2"/>
                </a:solidFill>
                <a:latin typeface="Arial"/>
              </a:rPr>
              <a:t>Sign devnet stake</a:t>
            </a:r>
          </a:p>
        </p:txBody>
      </p:sp>
      <p:sp>
        <p:nvSpPr>
          <p:cNvPr id="21" name="Rounded Rectangle 20"/>
          <p:cNvSpPr/>
          <p:nvPr/>
        </p:nvSpPr>
        <p:spPr>
          <a:xfrm>
            <a:off x="8010144" y="1783080"/>
            <a:ext cx="1696212" cy="841248"/>
          </a:xfrm>
          <a:prstGeom prst="roundRect">
            <a:avLst>
              <a:gd name="adj" fmla="val 12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10144" y="1783080"/>
            <a:ext cx="64008" cy="841248"/>
          </a:xfrm>
          <a:prstGeom prst="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11312" y="1901952"/>
            <a:ext cx="502920" cy="411480"/>
          </a:xfrm>
          <a:prstGeom prst="rect">
            <a:avLst/>
          </a:prstGeom>
          <a:noFill/>
        </p:spPr>
        <p:txBody>
          <a:bodyPr wrap="square" anchor="t" lIns="0" rIns="0" tIns="0" bIns="0">
            <a:spAutoFit/>
          </a:bodyPr>
          <a:lstStyle/>
          <a:p>
            <a:pPr algn="l">
              <a:lnSpc>
                <a:spcPct val="100000"/>
              </a:lnSpc>
            </a:pPr>
            <a:r>
              <a:rPr sz="2200" b="1" i="0">
                <a:solidFill>
                  <a:srgbClr val="E8EEF2"/>
                </a:solidFill>
                <a:latin typeface="Arial Black"/>
              </a:rPr>
              <a:t>5</a:t>
            </a:r>
          </a:p>
        </p:txBody>
      </p:sp>
      <p:sp>
        <p:nvSpPr>
          <p:cNvPr id="24" name="TextBox 23"/>
          <p:cNvSpPr txBox="1"/>
          <p:nvPr/>
        </p:nvSpPr>
        <p:spPr>
          <a:xfrm>
            <a:off x="8193024" y="2240280"/>
            <a:ext cx="1376172" cy="347472"/>
          </a:xfrm>
          <a:prstGeom prst="rect">
            <a:avLst/>
          </a:prstGeom>
          <a:noFill/>
        </p:spPr>
        <p:txBody>
          <a:bodyPr wrap="square" anchor="t" lIns="0" rIns="0" tIns="0" bIns="0">
            <a:spAutoFit/>
          </a:bodyPr>
          <a:lstStyle/>
          <a:p>
            <a:pPr algn="l">
              <a:lnSpc>
                <a:spcPct val="100000"/>
              </a:lnSpc>
            </a:pPr>
            <a:r>
              <a:rPr sz="1150" b="1" i="0">
                <a:solidFill>
                  <a:srgbClr val="E8EEF2"/>
                </a:solidFill>
                <a:latin typeface="Arial"/>
              </a:rPr>
              <a:t>On-chain stamp</a:t>
            </a:r>
          </a:p>
        </p:txBody>
      </p:sp>
      <p:sp>
        <p:nvSpPr>
          <p:cNvPr id="25" name="Rounded Rectangle 24"/>
          <p:cNvSpPr/>
          <p:nvPr/>
        </p:nvSpPr>
        <p:spPr>
          <a:xfrm>
            <a:off x="9852660" y="1783080"/>
            <a:ext cx="1696212" cy="841248"/>
          </a:xfrm>
          <a:prstGeom prst="roundRect">
            <a:avLst>
              <a:gd name="adj" fmla="val 12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852660" y="1783080"/>
            <a:ext cx="64008" cy="841248"/>
          </a:xfrm>
          <a:prstGeom prst="rect">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3828" y="1901952"/>
            <a:ext cx="502920" cy="411480"/>
          </a:xfrm>
          <a:prstGeom prst="rect">
            <a:avLst/>
          </a:prstGeom>
          <a:noFill/>
        </p:spPr>
        <p:txBody>
          <a:bodyPr wrap="square" anchor="t" lIns="0" rIns="0" tIns="0" bIns="0">
            <a:spAutoFit/>
          </a:bodyPr>
          <a:lstStyle/>
          <a:p>
            <a:pPr algn="l">
              <a:lnSpc>
                <a:spcPct val="100000"/>
              </a:lnSpc>
            </a:pPr>
            <a:r>
              <a:rPr sz="2200" b="1" i="0">
                <a:solidFill>
                  <a:srgbClr val="B6FF3C"/>
                </a:solidFill>
                <a:latin typeface="Arial Black"/>
              </a:rPr>
              <a:t>6</a:t>
            </a:r>
          </a:p>
        </p:txBody>
      </p:sp>
      <p:sp>
        <p:nvSpPr>
          <p:cNvPr id="28" name="TextBox 27"/>
          <p:cNvSpPr txBox="1"/>
          <p:nvPr/>
        </p:nvSpPr>
        <p:spPr>
          <a:xfrm>
            <a:off x="10035540" y="2240280"/>
            <a:ext cx="1376172" cy="347472"/>
          </a:xfrm>
          <a:prstGeom prst="rect">
            <a:avLst/>
          </a:prstGeom>
          <a:noFill/>
        </p:spPr>
        <p:txBody>
          <a:bodyPr wrap="square" anchor="t" lIns="0" rIns="0" tIns="0" bIns="0">
            <a:spAutoFit/>
          </a:bodyPr>
          <a:lstStyle/>
          <a:p>
            <a:pPr algn="l">
              <a:lnSpc>
                <a:spcPct val="100000"/>
              </a:lnSpc>
            </a:pPr>
            <a:r>
              <a:rPr sz="1150" b="1" i="0">
                <a:solidFill>
                  <a:srgbClr val="E8EEF2"/>
                </a:solidFill>
                <a:latin typeface="Arial"/>
              </a:rPr>
              <a:t>Settle &amp; payout</a:t>
            </a:r>
          </a:p>
        </p:txBody>
      </p:sp>
      <p:sp>
        <p:nvSpPr>
          <p:cNvPr id="29" name="Rounded Rectangle 28"/>
          <p:cNvSpPr/>
          <p:nvPr/>
        </p:nvSpPr>
        <p:spPr>
          <a:xfrm>
            <a:off x="1238943" y="2816352"/>
            <a:ext cx="1819793" cy="3008376"/>
          </a:xfrm>
          <a:prstGeom prst="roundRect">
            <a:avLst>
              <a:gd name="adj" fmla="val 9000"/>
            </a:avLst>
          </a:prstGeom>
          <a:solidFill>
            <a:srgbClr val="05080B"/>
          </a:solidFill>
          <a:ln w="19050">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04-live-matches-list.png"/>
          <p:cNvPicPr>
            <a:picLocks noChangeAspect="1"/>
          </p:cNvPicPr>
          <p:nvPr/>
        </p:nvPicPr>
        <p:blipFill>
          <a:blip r:embed="rId2"/>
          <a:stretch>
            <a:fillRect/>
          </a:stretch>
        </p:blipFill>
        <p:spPr>
          <a:xfrm>
            <a:off x="1302951" y="2880360"/>
            <a:ext cx="1691777" cy="2880360"/>
          </a:xfrm>
          <a:prstGeom prst="rect">
            <a:avLst/>
          </a:prstGeom>
        </p:spPr>
      </p:pic>
      <p:sp>
        <p:nvSpPr>
          <p:cNvPr id="31" name="TextBox 30"/>
          <p:cNvSpPr txBox="1"/>
          <p:nvPr/>
        </p:nvSpPr>
        <p:spPr>
          <a:xfrm>
            <a:off x="1074351" y="5870448"/>
            <a:ext cx="2148977" cy="274320"/>
          </a:xfrm>
          <a:prstGeom prst="rect">
            <a:avLst/>
          </a:prstGeom>
          <a:noFill/>
        </p:spPr>
        <p:txBody>
          <a:bodyPr wrap="square" anchor="t" lIns="0" rIns="0" tIns="0" bIns="0">
            <a:spAutoFit/>
          </a:bodyPr>
          <a:lstStyle/>
          <a:p>
            <a:pPr algn="ctr">
              <a:lnSpc>
                <a:spcPct val="100000"/>
              </a:lnSpc>
            </a:pPr>
            <a:r>
              <a:rPr sz="1000" b="0" i="0">
                <a:solidFill>
                  <a:srgbClr val="8CA0A8"/>
                </a:solidFill>
                <a:latin typeface="Arial"/>
              </a:rPr>
              <a:t>See a live match</a:t>
            </a:r>
          </a:p>
        </p:txBody>
      </p:sp>
      <p:sp>
        <p:nvSpPr>
          <p:cNvPr id="32" name="TextBox 31"/>
          <p:cNvSpPr txBox="1"/>
          <p:nvPr/>
        </p:nvSpPr>
        <p:spPr>
          <a:xfrm>
            <a:off x="3246120" y="4023360"/>
            <a:ext cx="548640" cy="548640"/>
          </a:xfrm>
          <a:prstGeom prst="rect">
            <a:avLst/>
          </a:prstGeom>
          <a:noFill/>
        </p:spPr>
        <p:txBody>
          <a:bodyPr wrap="square" anchor="ctr" lIns="0" rIns="0" tIns="0" bIns="0">
            <a:spAutoFit/>
          </a:bodyPr>
          <a:lstStyle/>
          <a:p>
            <a:pPr algn="ctr">
              <a:lnSpc>
                <a:spcPct val="100000"/>
              </a:lnSpc>
            </a:pPr>
            <a:r>
              <a:rPr sz="2400" b="1" i="0">
                <a:solidFill>
                  <a:srgbClr val="B6FF3C"/>
                </a:solidFill>
                <a:latin typeface="Arial Black"/>
              </a:rPr>
              <a:t>→</a:t>
            </a:r>
          </a:p>
        </p:txBody>
      </p:sp>
      <p:sp>
        <p:nvSpPr>
          <p:cNvPr id="33" name="Rounded Rectangle 32"/>
          <p:cNvSpPr/>
          <p:nvPr/>
        </p:nvSpPr>
        <p:spPr>
          <a:xfrm>
            <a:off x="3982143" y="2816352"/>
            <a:ext cx="1819793" cy="3008376"/>
          </a:xfrm>
          <a:prstGeom prst="roundRect">
            <a:avLst>
              <a:gd name="adj" fmla="val 9000"/>
            </a:avLst>
          </a:prstGeom>
          <a:solidFill>
            <a:srgbClr val="05080B"/>
          </a:solidFill>
          <a:ln w="19050">
            <a:solidFill>
              <a:srgbClr val="E8EE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06-select-market-stake.png"/>
          <p:cNvPicPr>
            <a:picLocks noChangeAspect="1"/>
          </p:cNvPicPr>
          <p:nvPr/>
        </p:nvPicPr>
        <p:blipFill>
          <a:blip r:embed="rId3"/>
          <a:stretch>
            <a:fillRect/>
          </a:stretch>
        </p:blipFill>
        <p:spPr>
          <a:xfrm>
            <a:off x="4046151" y="2880360"/>
            <a:ext cx="1691777" cy="2880360"/>
          </a:xfrm>
          <a:prstGeom prst="rect">
            <a:avLst/>
          </a:prstGeom>
        </p:spPr>
      </p:pic>
      <p:sp>
        <p:nvSpPr>
          <p:cNvPr id="35" name="TextBox 34"/>
          <p:cNvSpPr txBox="1"/>
          <p:nvPr/>
        </p:nvSpPr>
        <p:spPr>
          <a:xfrm>
            <a:off x="3817551" y="5870448"/>
            <a:ext cx="2148977" cy="274320"/>
          </a:xfrm>
          <a:prstGeom prst="rect">
            <a:avLst/>
          </a:prstGeom>
          <a:noFill/>
        </p:spPr>
        <p:txBody>
          <a:bodyPr wrap="square" anchor="t" lIns="0" rIns="0" tIns="0" bIns="0">
            <a:spAutoFit/>
          </a:bodyPr>
          <a:lstStyle/>
          <a:p>
            <a:pPr algn="ctr">
              <a:lnSpc>
                <a:spcPct val="100000"/>
              </a:lnSpc>
            </a:pPr>
            <a:r>
              <a:rPr sz="1000" b="0" i="0">
                <a:solidFill>
                  <a:srgbClr val="8CA0A8"/>
                </a:solidFill>
                <a:latin typeface="Arial"/>
              </a:rPr>
              <a:t>Pick market &amp; stake</a:t>
            </a:r>
          </a:p>
        </p:txBody>
      </p:sp>
      <p:sp>
        <p:nvSpPr>
          <p:cNvPr id="36" name="TextBox 35"/>
          <p:cNvSpPr txBox="1"/>
          <p:nvPr/>
        </p:nvSpPr>
        <p:spPr>
          <a:xfrm>
            <a:off x="5989320" y="4023360"/>
            <a:ext cx="548640" cy="548640"/>
          </a:xfrm>
          <a:prstGeom prst="rect">
            <a:avLst/>
          </a:prstGeom>
          <a:noFill/>
        </p:spPr>
        <p:txBody>
          <a:bodyPr wrap="square" anchor="ctr" lIns="0" rIns="0" tIns="0" bIns="0">
            <a:spAutoFit/>
          </a:bodyPr>
          <a:lstStyle/>
          <a:p>
            <a:pPr algn="ctr">
              <a:lnSpc>
                <a:spcPct val="100000"/>
              </a:lnSpc>
            </a:pPr>
            <a:r>
              <a:rPr sz="2400" b="1" i="0">
                <a:solidFill>
                  <a:srgbClr val="B6FF3C"/>
                </a:solidFill>
                <a:latin typeface="Arial Black"/>
              </a:rPr>
              <a:t>→</a:t>
            </a:r>
          </a:p>
        </p:txBody>
      </p:sp>
      <p:sp>
        <p:nvSpPr>
          <p:cNvPr id="37" name="Rounded Rectangle 36"/>
          <p:cNvSpPr/>
          <p:nvPr/>
        </p:nvSpPr>
        <p:spPr>
          <a:xfrm>
            <a:off x="6725343" y="2816352"/>
            <a:ext cx="1819793" cy="3008376"/>
          </a:xfrm>
          <a:prstGeom prst="roundRect">
            <a:avLst>
              <a:gd name="adj" fmla="val 9000"/>
            </a:avLst>
          </a:prstGeom>
          <a:solidFill>
            <a:srgbClr val="05080B"/>
          </a:solidFill>
          <a:ln w="19050">
            <a:solidFill>
              <a:srgbClr val="FF7A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8" name="Picture 37" descr="07-making-call.png"/>
          <p:cNvPicPr>
            <a:picLocks noChangeAspect="1"/>
          </p:cNvPicPr>
          <p:nvPr/>
        </p:nvPicPr>
        <p:blipFill>
          <a:blip r:embed="rId4"/>
          <a:stretch>
            <a:fillRect/>
          </a:stretch>
        </p:blipFill>
        <p:spPr>
          <a:xfrm>
            <a:off x="6789351" y="2880360"/>
            <a:ext cx="1691777" cy="2880360"/>
          </a:xfrm>
          <a:prstGeom prst="rect">
            <a:avLst/>
          </a:prstGeom>
        </p:spPr>
      </p:pic>
      <p:sp>
        <p:nvSpPr>
          <p:cNvPr id="39" name="TextBox 38"/>
          <p:cNvSpPr txBox="1"/>
          <p:nvPr/>
        </p:nvSpPr>
        <p:spPr>
          <a:xfrm>
            <a:off x="6560751" y="5870448"/>
            <a:ext cx="2148977" cy="274320"/>
          </a:xfrm>
          <a:prstGeom prst="rect">
            <a:avLst/>
          </a:prstGeom>
          <a:noFill/>
        </p:spPr>
        <p:txBody>
          <a:bodyPr wrap="square" anchor="t" lIns="0" rIns="0" tIns="0" bIns="0">
            <a:spAutoFit/>
          </a:bodyPr>
          <a:lstStyle/>
          <a:p>
            <a:pPr algn="ctr">
              <a:lnSpc>
                <a:spcPct val="100000"/>
              </a:lnSpc>
            </a:pPr>
            <a:r>
              <a:rPr sz="1000" b="0" i="0">
                <a:solidFill>
                  <a:srgbClr val="8CA0A8"/>
                </a:solidFill>
                <a:latin typeface="Arial"/>
              </a:rPr>
              <a:t>Sign devnet stake</a:t>
            </a:r>
          </a:p>
        </p:txBody>
      </p:sp>
      <p:sp>
        <p:nvSpPr>
          <p:cNvPr id="40" name="TextBox 39"/>
          <p:cNvSpPr txBox="1"/>
          <p:nvPr/>
        </p:nvSpPr>
        <p:spPr>
          <a:xfrm>
            <a:off x="8732520" y="4023360"/>
            <a:ext cx="548640" cy="548640"/>
          </a:xfrm>
          <a:prstGeom prst="rect">
            <a:avLst/>
          </a:prstGeom>
          <a:noFill/>
        </p:spPr>
        <p:txBody>
          <a:bodyPr wrap="square" anchor="ctr" lIns="0" rIns="0" tIns="0" bIns="0">
            <a:spAutoFit/>
          </a:bodyPr>
          <a:lstStyle/>
          <a:p>
            <a:pPr algn="ctr">
              <a:lnSpc>
                <a:spcPct val="100000"/>
              </a:lnSpc>
            </a:pPr>
            <a:r>
              <a:rPr sz="2400" b="1" i="0">
                <a:solidFill>
                  <a:srgbClr val="B6FF3C"/>
                </a:solidFill>
                <a:latin typeface="Arial Black"/>
              </a:rPr>
              <a:t>→</a:t>
            </a:r>
          </a:p>
        </p:txBody>
      </p:sp>
      <p:sp>
        <p:nvSpPr>
          <p:cNvPr id="41" name="Rounded Rectangle 40"/>
          <p:cNvSpPr/>
          <p:nvPr/>
        </p:nvSpPr>
        <p:spPr>
          <a:xfrm>
            <a:off x="9468543" y="2816352"/>
            <a:ext cx="1819793" cy="3008376"/>
          </a:xfrm>
          <a:prstGeom prst="roundRect">
            <a:avLst>
              <a:gd name="adj" fmla="val 9000"/>
            </a:avLst>
          </a:prstGeom>
          <a:solidFill>
            <a:srgbClr val="05080B"/>
          </a:solidFill>
          <a:ln w="19050">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08-prediction-committed.png"/>
          <p:cNvPicPr>
            <a:picLocks noChangeAspect="1"/>
          </p:cNvPicPr>
          <p:nvPr/>
        </p:nvPicPr>
        <p:blipFill>
          <a:blip r:embed="rId5"/>
          <a:stretch>
            <a:fillRect/>
          </a:stretch>
        </p:blipFill>
        <p:spPr>
          <a:xfrm>
            <a:off x="9532551" y="2880360"/>
            <a:ext cx="1691777" cy="2880360"/>
          </a:xfrm>
          <a:prstGeom prst="rect">
            <a:avLst/>
          </a:prstGeom>
        </p:spPr>
      </p:pic>
      <p:sp>
        <p:nvSpPr>
          <p:cNvPr id="43" name="TextBox 42"/>
          <p:cNvSpPr txBox="1"/>
          <p:nvPr/>
        </p:nvSpPr>
        <p:spPr>
          <a:xfrm>
            <a:off x="9303951" y="5870448"/>
            <a:ext cx="2148977" cy="274320"/>
          </a:xfrm>
          <a:prstGeom prst="rect">
            <a:avLst/>
          </a:prstGeom>
          <a:noFill/>
        </p:spPr>
        <p:txBody>
          <a:bodyPr wrap="square" anchor="t" lIns="0" rIns="0" tIns="0" bIns="0">
            <a:spAutoFit/>
          </a:bodyPr>
          <a:lstStyle/>
          <a:p>
            <a:pPr algn="ctr">
              <a:lnSpc>
                <a:spcPct val="100000"/>
              </a:lnSpc>
            </a:pPr>
            <a:r>
              <a:rPr sz="1000" b="0" i="0">
                <a:solidFill>
                  <a:srgbClr val="8CA0A8"/>
                </a:solidFill>
                <a:latin typeface="Arial"/>
              </a:rPr>
              <a:t>On-chain seal</a:t>
            </a:r>
          </a:p>
        </p:txBody>
      </p:sp>
      <p:sp>
        <p:nvSpPr>
          <p:cNvPr id="44" name="TextBox 43"/>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Fastify + Postgres on Railway · Solana web3.js · TxODDS TxLINE feed · Vite + React 19 PWA</a:t>
            </a:r>
          </a:p>
        </p:txBody>
      </p:sp>
      <p:sp>
        <p:nvSpPr>
          <p:cNvPr id="45" name="TextBox 44"/>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06 / 16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THE DIFFERENTIATOR</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Validated against the live feed. Proven on-chain.</a:t>
            </a:r>
          </a:p>
        </p:txBody>
      </p:sp>
      <p:sp>
        <p:nvSpPr>
          <p:cNvPr id="5" name="TextBox 4"/>
          <p:cNvSpPr txBox="1"/>
          <p:nvPr/>
        </p:nvSpPr>
        <p:spPr>
          <a:xfrm>
            <a:off x="640080" y="1828800"/>
            <a:ext cx="6035040" cy="548640"/>
          </a:xfrm>
          <a:prstGeom prst="rect">
            <a:avLst/>
          </a:prstGeom>
          <a:noFill/>
        </p:spPr>
        <p:txBody>
          <a:bodyPr wrap="square" anchor="t" lIns="0" rIns="0" tIns="0" bIns="0">
            <a:spAutoFit/>
          </a:bodyPr>
          <a:lstStyle/>
          <a:p>
            <a:pPr algn="l">
              <a:lnSpc>
                <a:spcPct val="100000"/>
              </a:lnSpc>
            </a:pPr>
            <a:r>
              <a:rPr sz="1700" b="0" i="0">
                <a:solidFill>
                  <a:srgbClr val="E8EEF2"/>
                </a:solidFill>
                <a:latin typeface="Arial"/>
              </a:rPr>
              <a:t>Called It is the only experience that is </a:t>
            </a:r>
            <a:r>
              <a:rPr sz="1700" b="1" i="0">
                <a:solidFill>
                  <a:srgbClr val="B6FF3C"/>
                </a:solidFill>
                <a:latin typeface="Arial"/>
              </a:rPr>
              <a:t>both live and trustless</a:t>
            </a:r>
            <a:r>
              <a:rPr sz="1700" b="0" i="0">
                <a:solidFill>
                  <a:srgbClr val="E8EEF2"/>
                </a:solidFill>
                <a:latin typeface="Arial"/>
              </a:rPr>
              <a:t>.</a:t>
            </a:r>
          </a:p>
        </p:txBody>
      </p:sp>
      <p:sp>
        <p:nvSpPr>
          <p:cNvPr id="6" name="Oval 5"/>
          <p:cNvSpPr/>
          <p:nvPr/>
        </p:nvSpPr>
        <p:spPr>
          <a:xfrm>
            <a:off x="640080" y="2523744"/>
            <a:ext cx="146304" cy="146304"/>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468880"/>
            <a:ext cx="5715000" cy="1097280"/>
          </a:xfrm>
          <a:prstGeom prst="rect">
            <a:avLst/>
          </a:prstGeom>
          <a:noFill/>
        </p:spPr>
        <p:txBody>
          <a:bodyPr wrap="square" anchor="t" lIns="0" rIns="0" tIns="0" bIns="0">
            <a:spAutoFit/>
          </a:bodyPr>
          <a:lstStyle/>
          <a:p>
            <a:pPr algn="l">
              <a:lnSpc>
                <a:spcPct val="120000"/>
              </a:lnSpc>
            </a:pPr>
            <a:r>
              <a:rPr sz="1500" b="1" i="0">
                <a:solidFill>
                  <a:srgbClr val="E8EEF2"/>
                </a:solidFill>
                <a:latin typeface="Arial"/>
              </a:rPr>
              <a:t>Live / instant — </a:t>
            </a:r>
            <a:r>
              <a:rPr sz="1500" b="0" i="0">
                <a:solidFill>
                  <a:srgbClr val="8CA0A8"/>
                </a:solidFill>
                <a:latin typeface="Arial"/>
              </a:rPr>
              <a:t>You call during the match, before the event resolves — not a post-hoc market.</a:t>
            </a:r>
          </a:p>
        </p:txBody>
      </p:sp>
      <p:sp>
        <p:nvSpPr>
          <p:cNvPr id="8" name="Oval 7"/>
          <p:cNvSpPr/>
          <p:nvPr/>
        </p:nvSpPr>
        <p:spPr>
          <a:xfrm>
            <a:off x="640080" y="3666744"/>
            <a:ext cx="146304" cy="146304"/>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611880"/>
            <a:ext cx="5715000" cy="1097280"/>
          </a:xfrm>
          <a:prstGeom prst="rect">
            <a:avLst/>
          </a:prstGeom>
          <a:noFill/>
        </p:spPr>
        <p:txBody>
          <a:bodyPr wrap="square" anchor="t" lIns="0" rIns="0" tIns="0" bIns="0">
            <a:spAutoFit/>
          </a:bodyPr>
          <a:lstStyle/>
          <a:p>
            <a:pPr algn="l">
              <a:lnSpc>
                <a:spcPct val="120000"/>
              </a:lnSpc>
            </a:pPr>
            <a:r>
              <a:rPr sz="1500" b="1" i="0">
                <a:solidFill>
                  <a:srgbClr val="E8EEF2"/>
                </a:solidFill>
                <a:latin typeface="Arial"/>
              </a:rPr>
              <a:t>On-chain provable — </a:t>
            </a:r>
            <a:r>
              <a:rPr sz="1500" b="0" i="0">
                <a:solidFill>
                  <a:srgbClr val="8CA0A8"/>
                </a:solidFill>
                <a:latin typeface="Arial"/>
              </a:rPr>
              <a:t>Real stake and settlement, verifiable on Solana. No house you have to trust.</a:t>
            </a:r>
          </a:p>
        </p:txBody>
      </p:sp>
      <p:sp>
        <p:nvSpPr>
          <p:cNvPr id="10" name="Oval 9"/>
          <p:cNvSpPr/>
          <p:nvPr/>
        </p:nvSpPr>
        <p:spPr>
          <a:xfrm>
            <a:off x="640080" y="4809744"/>
            <a:ext cx="146304" cy="146304"/>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754880"/>
            <a:ext cx="5715000" cy="1097280"/>
          </a:xfrm>
          <a:prstGeom prst="rect">
            <a:avLst/>
          </a:prstGeom>
          <a:noFill/>
        </p:spPr>
        <p:txBody>
          <a:bodyPr wrap="square" anchor="t" lIns="0" rIns="0" tIns="0" bIns="0">
            <a:spAutoFit/>
          </a:bodyPr>
          <a:lstStyle/>
          <a:p>
            <a:pPr algn="l">
              <a:lnSpc>
                <a:spcPct val="120000"/>
              </a:lnSpc>
            </a:pPr>
            <a:r>
              <a:rPr sz="1500" b="1" i="0">
                <a:solidFill>
                  <a:srgbClr val="E8EEF2"/>
                </a:solidFill>
                <a:latin typeface="Arial"/>
              </a:rPr>
              <a:t>Feed-validated — </a:t>
            </a:r>
            <a:r>
              <a:rPr sz="1500" b="0" i="0">
                <a:solidFill>
                  <a:srgbClr val="8CA0A8"/>
                </a:solidFill>
                <a:latin typeface="Arial"/>
              </a:rPr>
              <a:t>Provable markets settle off the TxODDS live feed and are cross-checked on-chain via the TxOracle validate_stat program.</a:t>
            </a:r>
          </a:p>
        </p:txBody>
      </p:sp>
      <p:sp>
        <p:nvSpPr>
          <p:cNvPr id="12" name="Rounded Rectangle 11"/>
          <p:cNvSpPr/>
          <p:nvPr/>
        </p:nvSpPr>
        <p:spPr>
          <a:xfrm>
            <a:off x="640080" y="5806440"/>
            <a:ext cx="6035040" cy="566928"/>
          </a:xfrm>
          <a:prstGeom prst="roundRect">
            <a:avLst>
              <a:gd name="adj" fmla="val 14000"/>
            </a:avLst>
          </a:prstGeom>
          <a:solidFill>
            <a:srgbClr val="182812"/>
          </a:solidFill>
          <a:ln w="12700">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806440"/>
            <a:ext cx="5486400" cy="566928"/>
          </a:xfrm>
          <a:prstGeom prst="rect">
            <a:avLst/>
          </a:prstGeom>
          <a:noFill/>
        </p:spPr>
        <p:txBody>
          <a:bodyPr wrap="square" anchor="ctr" lIns="0" rIns="0" tIns="0" bIns="0">
            <a:spAutoFit/>
          </a:bodyPr>
          <a:lstStyle/>
          <a:p>
            <a:pPr algn="l">
              <a:lnSpc>
                <a:spcPct val="100000"/>
              </a:lnSpc>
            </a:pPr>
            <a:r>
              <a:rPr sz="1500" b="1" i="0">
                <a:solidFill>
                  <a:srgbClr val="B6FF3C"/>
                </a:solidFill>
                <a:latin typeface="Arial Black"/>
              </a:rPr>
              <a:t>“You call it — the chain proves it.”</a:t>
            </a:r>
          </a:p>
        </p:txBody>
      </p:sp>
      <p:sp>
        <p:nvSpPr>
          <p:cNvPr id="14" name="Rounded Rectangle 13"/>
          <p:cNvSpPr/>
          <p:nvPr/>
        </p:nvSpPr>
        <p:spPr>
          <a:xfrm>
            <a:off x="7709769" y="2221992"/>
            <a:ext cx="1954061" cy="3236976"/>
          </a:xfrm>
          <a:prstGeom prst="roundRect">
            <a:avLst>
              <a:gd name="adj" fmla="val 9000"/>
            </a:avLst>
          </a:prstGeom>
          <a:solidFill>
            <a:srgbClr val="05080B"/>
          </a:solidFill>
          <a:ln w="19050">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03-wallet-connected-balance.png"/>
          <p:cNvPicPr>
            <a:picLocks noChangeAspect="1"/>
          </p:cNvPicPr>
          <p:nvPr/>
        </p:nvPicPr>
        <p:blipFill>
          <a:blip r:embed="rId2"/>
          <a:stretch>
            <a:fillRect/>
          </a:stretch>
        </p:blipFill>
        <p:spPr>
          <a:xfrm>
            <a:off x="7773777" y="2286000"/>
            <a:ext cx="1826045" cy="3108960"/>
          </a:xfrm>
          <a:prstGeom prst="rect">
            <a:avLst/>
          </a:prstGeom>
        </p:spPr>
      </p:pic>
      <p:sp>
        <p:nvSpPr>
          <p:cNvPr id="16" name="TextBox 15"/>
          <p:cNvSpPr txBox="1"/>
          <p:nvPr/>
        </p:nvSpPr>
        <p:spPr>
          <a:xfrm>
            <a:off x="7545177" y="5504688"/>
            <a:ext cx="2283245" cy="274320"/>
          </a:xfrm>
          <a:prstGeom prst="rect">
            <a:avLst/>
          </a:prstGeom>
          <a:noFill/>
        </p:spPr>
        <p:txBody>
          <a:bodyPr wrap="square" anchor="t" lIns="0" rIns="0" tIns="0" bIns="0">
            <a:spAutoFit/>
          </a:bodyPr>
          <a:lstStyle/>
          <a:p>
            <a:pPr algn="ctr">
              <a:lnSpc>
                <a:spcPct val="100000"/>
              </a:lnSpc>
            </a:pPr>
            <a:r>
              <a:rPr sz="1000" b="0" i="0">
                <a:solidFill>
                  <a:srgbClr val="8CA0A8"/>
                </a:solidFill>
                <a:latin typeface="Arial"/>
              </a:rPr>
              <a:t>Live devnet balance</a:t>
            </a:r>
          </a:p>
        </p:txBody>
      </p:sp>
      <p:sp>
        <p:nvSpPr>
          <p:cNvPr id="17" name="Rounded Rectangle 16"/>
          <p:cNvSpPr/>
          <p:nvPr/>
        </p:nvSpPr>
        <p:spPr>
          <a:xfrm>
            <a:off x="9767169" y="2221992"/>
            <a:ext cx="1954061" cy="3236976"/>
          </a:xfrm>
          <a:prstGeom prst="roundRect">
            <a:avLst>
              <a:gd name="adj" fmla="val 9000"/>
            </a:avLst>
          </a:prstGeom>
          <a:solidFill>
            <a:srgbClr val="05080B"/>
          </a:solidFill>
          <a:ln w="19050">
            <a:solidFill>
              <a:srgbClr val="FF7A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11-history.png"/>
          <p:cNvPicPr>
            <a:picLocks noChangeAspect="1"/>
          </p:cNvPicPr>
          <p:nvPr/>
        </p:nvPicPr>
        <p:blipFill>
          <a:blip r:embed="rId3"/>
          <a:stretch>
            <a:fillRect/>
          </a:stretch>
        </p:blipFill>
        <p:spPr>
          <a:xfrm>
            <a:off x="9831177" y="2286000"/>
            <a:ext cx="1826045" cy="3108960"/>
          </a:xfrm>
          <a:prstGeom prst="rect">
            <a:avLst/>
          </a:prstGeom>
        </p:spPr>
      </p:pic>
      <p:sp>
        <p:nvSpPr>
          <p:cNvPr id="19" name="TextBox 18"/>
          <p:cNvSpPr txBox="1"/>
          <p:nvPr/>
        </p:nvSpPr>
        <p:spPr>
          <a:xfrm>
            <a:off x="9602577" y="5504688"/>
            <a:ext cx="2283245" cy="274320"/>
          </a:xfrm>
          <a:prstGeom prst="rect">
            <a:avLst/>
          </a:prstGeom>
          <a:noFill/>
        </p:spPr>
        <p:txBody>
          <a:bodyPr wrap="square" anchor="t" lIns="0" rIns="0" tIns="0" bIns="0">
            <a:spAutoFit/>
          </a:bodyPr>
          <a:lstStyle/>
          <a:p>
            <a:pPr algn="ctr">
              <a:lnSpc>
                <a:spcPct val="100000"/>
              </a:lnSpc>
            </a:pPr>
            <a:r>
              <a:rPr sz="1000" b="0" i="0">
                <a:solidFill>
                  <a:srgbClr val="8CA0A8"/>
                </a:solidFill>
                <a:latin typeface="Arial"/>
              </a:rPr>
              <a:t>Every call logged</a:t>
            </a:r>
          </a:p>
        </p:txBody>
      </p:sp>
      <p:sp>
        <p:nvSpPr>
          <p:cNvPr id="20" name="TextBox 19"/>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Called It  ·  FIFA World Cup 2026  ·  Solana</a:t>
            </a:r>
          </a:p>
        </p:txBody>
      </p:sp>
      <p:sp>
        <p:nvSpPr>
          <p:cNvPr id="21" name="TextBox 20"/>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07 / 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WHAT IT DELIVERS</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Not a mockup — a working on-chain money loop.</a:t>
            </a:r>
          </a:p>
        </p:txBody>
      </p:sp>
      <p:sp>
        <p:nvSpPr>
          <p:cNvPr id="5" name="Rounded Rectangle 4"/>
          <p:cNvSpPr/>
          <p:nvPr/>
        </p:nvSpPr>
        <p:spPr>
          <a:xfrm>
            <a:off x="640080" y="2286000"/>
            <a:ext cx="2615184" cy="2834640"/>
          </a:xfrm>
          <a:prstGeom prst="roundRect">
            <a:avLst>
              <a:gd name="adj" fmla="val 7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32688" y="2651760"/>
            <a:ext cx="502920" cy="54864"/>
          </a:xfrm>
          <a:prstGeom prst="rect">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880360"/>
            <a:ext cx="2066544" cy="1005840"/>
          </a:xfrm>
          <a:prstGeom prst="rect">
            <a:avLst/>
          </a:prstGeom>
          <a:noFill/>
        </p:spPr>
        <p:txBody>
          <a:bodyPr wrap="square" anchor="t" lIns="0" rIns="0" tIns="0" bIns="0">
            <a:spAutoFit/>
          </a:bodyPr>
          <a:lstStyle/>
          <a:p>
            <a:pPr algn="l">
              <a:lnSpc>
                <a:spcPct val="100000"/>
              </a:lnSpc>
            </a:pPr>
            <a:r>
              <a:rPr sz="4000" b="1" i="0">
                <a:solidFill>
                  <a:srgbClr val="B6FF3C"/>
                </a:solidFill>
                <a:latin typeface="Arial Black"/>
              </a:rPr>
              <a:t>100%</a:t>
            </a:r>
          </a:p>
        </p:txBody>
      </p:sp>
      <p:sp>
        <p:nvSpPr>
          <p:cNvPr id="8" name="TextBox 7"/>
          <p:cNvSpPr txBox="1"/>
          <p:nvPr/>
        </p:nvSpPr>
        <p:spPr>
          <a:xfrm>
            <a:off x="932688" y="3886200"/>
            <a:ext cx="2066544" cy="1097280"/>
          </a:xfrm>
          <a:prstGeom prst="rect">
            <a:avLst/>
          </a:prstGeom>
          <a:noFill/>
        </p:spPr>
        <p:txBody>
          <a:bodyPr wrap="square" anchor="t" lIns="0" rIns="0" tIns="0" bIns="0">
            <a:spAutoFit/>
          </a:bodyPr>
          <a:lstStyle/>
          <a:p>
            <a:pPr algn="l">
              <a:lnSpc>
                <a:spcPct val="122000"/>
              </a:lnSpc>
            </a:pPr>
            <a:r>
              <a:rPr sz="1400" b="0" i="0">
                <a:solidFill>
                  <a:srgbClr val="E8EEF2"/>
                </a:solidFill>
                <a:latin typeface="Arial"/>
              </a:rPr>
              <a:t>on-chain settlement of provable markets</a:t>
            </a:r>
          </a:p>
        </p:txBody>
      </p:sp>
      <p:sp>
        <p:nvSpPr>
          <p:cNvPr id="9" name="Rounded Rectangle 8"/>
          <p:cNvSpPr/>
          <p:nvPr/>
        </p:nvSpPr>
        <p:spPr>
          <a:xfrm>
            <a:off x="3547872" y="2286000"/>
            <a:ext cx="2615184" cy="2834640"/>
          </a:xfrm>
          <a:prstGeom prst="roundRect">
            <a:avLst>
              <a:gd name="adj" fmla="val 7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840480" y="2651760"/>
            <a:ext cx="502920" cy="54864"/>
          </a:xfrm>
          <a:prstGeom prst="rect">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40480" y="2880360"/>
            <a:ext cx="2066544" cy="1005840"/>
          </a:xfrm>
          <a:prstGeom prst="rect">
            <a:avLst/>
          </a:prstGeom>
          <a:noFill/>
        </p:spPr>
        <p:txBody>
          <a:bodyPr wrap="square" anchor="t" lIns="0" rIns="0" tIns="0" bIns="0">
            <a:spAutoFit/>
          </a:bodyPr>
          <a:lstStyle/>
          <a:p>
            <a:pPr algn="l">
              <a:lnSpc>
                <a:spcPct val="100000"/>
              </a:lnSpc>
            </a:pPr>
            <a:r>
              <a:rPr sz="4000" b="1" i="0">
                <a:solidFill>
                  <a:srgbClr val="FF7A18"/>
                </a:solidFill>
                <a:latin typeface="Arial Black"/>
              </a:rPr>
              <a:t>Real SOL</a:t>
            </a:r>
          </a:p>
        </p:txBody>
      </p:sp>
      <p:sp>
        <p:nvSpPr>
          <p:cNvPr id="12" name="TextBox 11"/>
          <p:cNvSpPr txBox="1"/>
          <p:nvPr/>
        </p:nvSpPr>
        <p:spPr>
          <a:xfrm>
            <a:off x="3840480" y="3886200"/>
            <a:ext cx="2066544" cy="1097280"/>
          </a:xfrm>
          <a:prstGeom prst="rect">
            <a:avLst/>
          </a:prstGeom>
          <a:noFill/>
        </p:spPr>
        <p:txBody>
          <a:bodyPr wrap="square" anchor="t" lIns="0" rIns="0" tIns="0" bIns="0">
            <a:spAutoFit/>
          </a:bodyPr>
          <a:lstStyle/>
          <a:p>
            <a:pPr algn="l">
              <a:lnSpc>
                <a:spcPct val="122000"/>
              </a:lnSpc>
            </a:pPr>
            <a:r>
              <a:rPr sz="1400" b="0" i="0">
                <a:solidFill>
                  <a:srgbClr val="E8EEF2"/>
                </a:solidFill>
                <a:latin typeface="Arial"/>
              </a:rPr>
              <a:t>devnet stakes &amp; payouts — actual transfers, not points</a:t>
            </a:r>
          </a:p>
        </p:txBody>
      </p:sp>
      <p:sp>
        <p:nvSpPr>
          <p:cNvPr id="13" name="Rounded Rectangle 12"/>
          <p:cNvSpPr/>
          <p:nvPr/>
        </p:nvSpPr>
        <p:spPr>
          <a:xfrm>
            <a:off x="6455664" y="2286000"/>
            <a:ext cx="2615184" cy="2834640"/>
          </a:xfrm>
          <a:prstGeom prst="roundRect">
            <a:avLst>
              <a:gd name="adj" fmla="val 7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8272" y="2651760"/>
            <a:ext cx="502920" cy="54864"/>
          </a:xfrm>
          <a:prstGeom prst="rect">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48272" y="2880360"/>
            <a:ext cx="2066544" cy="1005840"/>
          </a:xfrm>
          <a:prstGeom prst="rect">
            <a:avLst/>
          </a:prstGeom>
          <a:noFill/>
        </p:spPr>
        <p:txBody>
          <a:bodyPr wrap="square" anchor="t" lIns="0" rIns="0" tIns="0" bIns="0">
            <a:spAutoFit/>
          </a:bodyPr>
          <a:lstStyle/>
          <a:p>
            <a:pPr algn="l">
              <a:lnSpc>
                <a:spcPct val="100000"/>
              </a:lnSpc>
            </a:pPr>
            <a:r>
              <a:rPr sz="4000" b="1" i="0">
                <a:solidFill>
                  <a:srgbClr val="B6FF3C"/>
                </a:solidFill>
                <a:latin typeface="Arial Black"/>
              </a:rPr>
              <a:t>Instant</a:t>
            </a:r>
          </a:p>
        </p:txBody>
      </p:sp>
      <p:sp>
        <p:nvSpPr>
          <p:cNvPr id="16" name="TextBox 15"/>
          <p:cNvSpPr txBox="1"/>
          <p:nvPr/>
        </p:nvSpPr>
        <p:spPr>
          <a:xfrm>
            <a:off x="6748272" y="3886200"/>
            <a:ext cx="2066544" cy="1097280"/>
          </a:xfrm>
          <a:prstGeom prst="rect">
            <a:avLst/>
          </a:prstGeom>
          <a:noFill/>
        </p:spPr>
        <p:txBody>
          <a:bodyPr wrap="square" anchor="t" lIns="0" rIns="0" tIns="0" bIns="0">
            <a:spAutoFit/>
          </a:bodyPr>
          <a:lstStyle/>
          <a:p>
            <a:pPr algn="l">
              <a:lnSpc>
                <a:spcPct val="122000"/>
              </a:lnSpc>
            </a:pPr>
            <a:r>
              <a:rPr sz="1400" b="0" i="0">
                <a:solidFill>
                  <a:srgbClr val="E8EEF2"/>
                </a:solidFill>
                <a:latin typeface="Arial"/>
              </a:rPr>
              <a:t>calls placed live, during the match</a:t>
            </a:r>
          </a:p>
        </p:txBody>
      </p:sp>
      <p:sp>
        <p:nvSpPr>
          <p:cNvPr id="17" name="Rounded Rectangle 16"/>
          <p:cNvSpPr/>
          <p:nvPr/>
        </p:nvSpPr>
        <p:spPr>
          <a:xfrm>
            <a:off x="9363456" y="2286000"/>
            <a:ext cx="2615184" cy="2834640"/>
          </a:xfrm>
          <a:prstGeom prst="roundRect">
            <a:avLst>
              <a:gd name="adj" fmla="val 7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656064" y="2651760"/>
            <a:ext cx="502920" cy="54864"/>
          </a:xfrm>
          <a:prstGeom prst="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56064" y="2880360"/>
            <a:ext cx="2066544" cy="1005840"/>
          </a:xfrm>
          <a:prstGeom prst="rect">
            <a:avLst/>
          </a:prstGeom>
          <a:noFill/>
        </p:spPr>
        <p:txBody>
          <a:bodyPr wrap="square" anchor="t" lIns="0" rIns="0" tIns="0" bIns="0">
            <a:spAutoFit/>
          </a:bodyPr>
          <a:lstStyle/>
          <a:p>
            <a:pPr algn="l">
              <a:lnSpc>
                <a:spcPct val="100000"/>
              </a:lnSpc>
            </a:pPr>
            <a:r>
              <a:rPr sz="4000" b="1" i="0">
                <a:solidFill>
                  <a:srgbClr val="E8EEF2"/>
                </a:solidFill>
                <a:latin typeface="Arial Black"/>
              </a:rPr>
              <a:t>Verifiable</a:t>
            </a:r>
          </a:p>
        </p:txBody>
      </p:sp>
      <p:sp>
        <p:nvSpPr>
          <p:cNvPr id="20" name="TextBox 19"/>
          <p:cNvSpPr txBox="1"/>
          <p:nvPr/>
        </p:nvSpPr>
        <p:spPr>
          <a:xfrm>
            <a:off x="9656064" y="3886200"/>
            <a:ext cx="2066544" cy="1097280"/>
          </a:xfrm>
          <a:prstGeom prst="rect">
            <a:avLst/>
          </a:prstGeom>
          <a:noFill/>
        </p:spPr>
        <p:txBody>
          <a:bodyPr wrap="square" anchor="t" lIns="0" rIns="0" tIns="0" bIns="0">
            <a:spAutoFit/>
          </a:bodyPr>
          <a:lstStyle/>
          <a:p>
            <a:pPr algn="l">
              <a:lnSpc>
                <a:spcPct val="122000"/>
              </a:lnSpc>
            </a:pPr>
            <a:r>
              <a:rPr sz="1400" b="0" i="0">
                <a:solidFill>
                  <a:srgbClr val="E8EEF2"/>
                </a:solidFill>
                <a:latin typeface="Arial"/>
              </a:rPr>
              <a:t>every stake carries a real tx hash + block time</a:t>
            </a:r>
          </a:p>
        </p:txBody>
      </p:sp>
      <p:sp>
        <p:nvSpPr>
          <p:cNvPr id="21" name="Rounded Rectangle 20"/>
          <p:cNvSpPr/>
          <p:nvPr/>
        </p:nvSpPr>
        <p:spPr>
          <a:xfrm>
            <a:off x="640080" y="5532120"/>
            <a:ext cx="10908792" cy="658368"/>
          </a:xfrm>
          <a:prstGeom prst="roundRect">
            <a:avLst>
              <a:gd name="adj" fmla="val 10000"/>
            </a:avLst>
          </a:prstGeom>
          <a:solidFill>
            <a:srgbClr val="182812"/>
          </a:solidFill>
          <a:ln w="12700">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5532120"/>
            <a:ext cx="10332720" cy="658368"/>
          </a:xfrm>
          <a:prstGeom prst="rect">
            <a:avLst/>
          </a:prstGeom>
          <a:noFill/>
        </p:spPr>
        <p:txBody>
          <a:bodyPr wrap="square" anchor="ctr" lIns="0" rIns="0" tIns="0" bIns="0">
            <a:spAutoFit/>
          </a:bodyPr>
          <a:lstStyle/>
          <a:p>
            <a:pPr algn="l">
              <a:lnSpc>
                <a:spcPct val="110000"/>
              </a:lnSpc>
            </a:pPr>
            <a:r>
              <a:rPr sz="1350" b="0" i="0">
                <a:solidFill>
                  <a:srgbClr val="E8EEF2"/>
                </a:solidFill>
                <a:latin typeface="Arial"/>
              </a:rPr>
              <a:t>Proven end-to-end on Solana devnet — deploy green, live fixtures (Spain vs Argentina), real stake tx, prediction stamped, worker settling every 10s.</a:t>
            </a:r>
          </a:p>
        </p:txBody>
      </p:sp>
      <p:sp>
        <p:nvSpPr>
          <p:cNvPr id="23" name="TextBox 22"/>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Called It  ·  FIFA World Cup 2026  ·  Solana</a:t>
            </a:r>
          </a:p>
        </p:txBody>
      </p:sp>
      <p:sp>
        <p:nvSpPr>
          <p:cNvPr id="24" name="TextBox 23"/>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08 / 16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COMPETITIVE LANDSCAPE</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Live and trustless is an empty quadrant — until now.</a:t>
            </a:r>
          </a:p>
        </p:txBody>
      </p:sp>
      <p:sp>
        <p:nvSpPr>
          <p:cNvPr id="5" name="Rounded Rectangle 4"/>
          <p:cNvSpPr/>
          <p:nvPr/>
        </p:nvSpPr>
        <p:spPr>
          <a:xfrm>
            <a:off x="640080" y="1737360"/>
            <a:ext cx="8595360" cy="4160520"/>
          </a:xfrm>
          <a:prstGeom prst="roundRect">
            <a:avLst>
              <a:gd name="adj" fmla="val 2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3817620"/>
            <a:ext cx="8595360" cy="17780"/>
          </a:xfrm>
          <a:prstGeom prst="rect">
            <a:avLst/>
          </a:prstGeom>
          <a:solidFill>
            <a:srgbClr val="2A3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937760" y="1737360"/>
            <a:ext cx="17780" cy="4160520"/>
          </a:xfrm>
          <a:prstGeom prst="rect">
            <a:avLst/>
          </a:prstGeom>
          <a:solidFill>
            <a:srgbClr val="2A3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943600"/>
            <a:ext cx="8595360" cy="274320"/>
          </a:xfrm>
          <a:prstGeom prst="rect">
            <a:avLst/>
          </a:prstGeom>
          <a:noFill/>
        </p:spPr>
        <p:txBody>
          <a:bodyPr wrap="square" anchor="t" lIns="0" rIns="0" tIns="0" bIns="0">
            <a:spAutoFit/>
          </a:bodyPr>
          <a:lstStyle/>
          <a:p>
            <a:pPr algn="r">
              <a:lnSpc>
                <a:spcPct val="100000"/>
              </a:lnSpc>
            </a:pPr>
            <a:r>
              <a:rPr sz="1200" b="1" i="0">
                <a:solidFill>
                  <a:srgbClr val="8CA0A8"/>
                </a:solidFill>
                <a:latin typeface="Arial"/>
              </a:rPr>
              <a:t>On-chain provable / trustless  →</a:t>
            </a:r>
          </a:p>
        </p:txBody>
      </p:sp>
      <p:sp>
        <p:nvSpPr>
          <p:cNvPr id="9" name="TextBox 8"/>
          <p:cNvSpPr txBox="1"/>
          <p:nvPr/>
        </p:nvSpPr>
        <p:spPr>
          <a:xfrm rot="16200000">
            <a:off x="137160" y="1691640"/>
            <a:ext cx="365760" cy="4160520"/>
          </a:xfrm>
          <a:prstGeom prst="rect">
            <a:avLst/>
          </a:prstGeom>
          <a:noFill/>
        </p:spPr>
        <p:txBody>
          <a:bodyPr wrap="square" anchor="t" lIns="0" rIns="0" tIns="0" bIns="0">
            <a:spAutoFit/>
          </a:bodyPr>
          <a:lstStyle/>
          <a:p>
            <a:pPr algn="l">
              <a:lnSpc>
                <a:spcPct val="100000"/>
              </a:lnSpc>
            </a:pPr>
            <a:r>
              <a:rPr sz="1200" b="1" i="0">
                <a:solidFill>
                  <a:srgbClr val="8CA0A8"/>
                </a:solidFill>
                <a:latin typeface="Arial"/>
              </a:rPr>
              <a:t>Live / in-the-moment  ↑</a:t>
            </a:r>
          </a:p>
        </p:txBody>
      </p:sp>
      <p:sp>
        <p:nvSpPr>
          <p:cNvPr id="10" name="Rounded Rectangle 9"/>
          <p:cNvSpPr/>
          <p:nvPr/>
        </p:nvSpPr>
        <p:spPr>
          <a:xfrm>
            <a:off x="1183233" y="2243480"/>
            <a:ext cx="3383280" cy="1234440"/>
          </a:xfrm>
          <a:prstGeom prst="roundRect">
            <a:avLst>
              <a:gd name="adj" fmla="val 12000"/>
            </a:avLst>
          </a:prstGeom>
          <a:solidFill>
            <a:srgbClr val="1B242C"/>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66113" y="2389784"/>
            <a:ext cx="3017520" cy="457200"/>
          </a:xfrm>
          <a:prstGeom prst="rect">
            <a:avLst/>
          </a:prstGeom>
          <a:noFill/>
        </p:spPr>
        <p:txBody>
          <a:bodyPr wrap="square" anchor="t" lIns="0" rIns="0" tIns="0" bIns="0">
            <a:spAutoFit/>
          </a:bodyPr>
          <a:lstStyle/>
          <a:p>
            <a:pPr algn="l">
              <a:lnSpc>
                <a:spcPct val="100000"/>
              </a:lnSpc>
            </a:pPr>
            <a:r>
              <a:rPr sz="1300" b="1" i="0">
                <a:solidFill>
                  <a:srgbClr val="FF7A18"/>
                </a:solidFill>
                <a:latin typeface="Arial Black"/>
              </a:rPr>
              <a:t>Traditional bookmakers</a:t>
            </a:r>
          </a:p>
        </p:txBody>
      </p:sp>
      <p:sp>
        <p:nvSpPr>
          <p:cNvPr id="12" name="TextBox 11"/>
          <p:cNvSpPr txBox="1"/>
          <p:nvPr/>
        </p:nvSpPr>
        <p:spPr>
          <a:xfrm>
            <a:off x="1366113" y="2718968"/>
            <a:ext cx="3017520" cy="822960"/>
          </a:xfrm>
          <a:prstGeom prst="rect">
            <a:avLst/>
          </a:prstGeom>
          <a:noFill/>
        </p:spPr>
        <p:txBody>
          <a:bodyPr wrap="square" anchor="t" lIns="0" rIns="0" tIns="0" bIns="0">
            <a:spAutoFit/>
          </a:bodyPr>
          <a:lstStyle/>
          <a:p>
            <a:pPr algn="l">
              <a:lnSpc>
                <a:spcPct val="108000"/>
              </a:lnSpc>
            </a:pPr>
            <a:r>
              <a:rPr sz="1050" b="0" i="0">
                <a:solidFill>
                  <a:srgbClr val="8CA0A8"/>
                </a:solidFill>
                <a:latin typeface="Arial"/>
              </a:rPr>
              <a:t>Live, but centralized &amp; opaque. Trust the house.</a:t>
            </a:r>
          </a:p>
        </p:txBody>
      </p:sp>
      <p:sp>
        <p:nvSpPr>
          <p:cNvPr id="13" name="Rounded Rectangle 12"/>
          <p:cNvSpPr/>
          <p:nvPr/>
        </p:nvSpPr>
        <p:spPr>
          <a:xfrm>
            <a:off x="5217566" y="2152040"/>
            <a:ext cx="3566160" cy="1417320"/>
          </a:xfrm>
          <a:prstGeom prst="roundRect">
            <a:avLst>
              <a:gd name="adj" fmla="val 12000"/>
            </a:avLst>
          </a:prstGeom>
          <a:solidFill>
            <a:srgbClr val="182812"/>
          </a:solidFill>
          <a:ln w="25400">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00446" y="2298344"/>
            <a:ext cx="3200400" cy="457200"/>
          </a:xfrm>
          <a:prstGeom prst="rect">
            <a:avLst/>
          </a:prstGeom>
          <a:noFill/>
        </p:spPr>
        <p:txBody>
          <a:bodyPr wrap="square" anchor="t" lIns="0" rIns="0" tIns="0" bIns="0">
            <a:spAutoFit/>
          </a:bodyPr>
          <a:lstStyle/>
          <a:p>
            <a:pPr algn="l">
              <a:lnSpc>
                <a:spcPct val="100000"/>
              </a:lnSpc>
            </a:pPr>
            <a:r>
              <a:rPr sz="1500" b="1" i="0">
                <a:solidFill>
                  <a:srgbClr val="B6FF3C"/>
                </a:solidFill>
                <a:latin typeface="Arial Black"/>
              </a:rPr>
              <a:t>Called It</a:t>
            </a:r>
          </a:p>
        </p:txBody>
      </p:sp>
      <p:sp>
        <p:nvSpPr>
          <p:cNvPr id="15" name="TextBox 14"/>
          <p:cNvSpPr txBox="1"/>
          <p:nvPr/>
        </p:nvSpPr>
        <p:spPr>
          <a:xfrm>
            <a:off x="5400446" y="2718968"/>
            <a:ext cx="3200400" cy="822960"/>
          </a:xfrm>
          <a:prstGeom prst="rect">
            <a:avLst/>
          </a:prstGeom>
          <a:noFill/>
        </p:spPr>
        <p:txBody>
          <a:bodyPr wrap="square" anchor="t" lIns="0" rIns="0" tIns="0" bIns="0">
            <a:spAutoFit/>
          </a:bodyPr>
          <a:lstStyle/>
          <a:p>
            <a:pPr algn="l">
              <a:lnSpc>
                <a:spcPct val="108000"/>
              </a:lnSpc>
            </a:pPr>
            <a:r>
              <a:rPr sz="1050" b="0" i="0">
                <a:solidFill>
                  <a:srgbClr val="E8EEF2"/>
                </a:solidFill>
                <a:latin typeface="Arial"/>
              </a:rPr>
              <a:t>Live AND on-chain provable. No house — the chain settles.</a:t>
            </a:r>
          </a:p>
        </p:txBody>
      </p:sp>
      <p:sp>
        <p:nvSpPr>
          <p:cNvPr id="16" name="Rounded Rectangle 15"/>
          <p:cNvSpPr/>
          <p:nvPr/>
        </p:nvSpPr>
        <p:spPr>
          <a:xfrm>
            <a:off x="1183233" y="4157319"/>
            <a:ext cx="3383280" cy="1234440"/>
          </a:xfrm>
          <a:prstGeom prst="roundRect">
            <a:avLst>
              <a:gd name="adj" fmla="val 12000"/>
            </a:avLst>
          </a:prstGeom>
          <a:solidFill>
            <a:srgbClr val="1B242C"/>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66113" y="4303623"/>
            <a:ext cx="3017520" cy="457200"/>
          </a:xfrm>
          <a:prstGeom prst="rect">
            <a:avLst/>
          </a:prstGeom>
          <a:noFill/>
        </p:spPr>
        <p:txBody>
          <a:bodyPr wrap="square" anchor="t" lIns="0" rIns="0" tIns="0" bIns="0">
            <a:spAutoFit/>
          </a:bodyPr>
          <a:lstStyle/>
          <a:p>
            <a:pPr algn="l">
              <a:lnSpc>
                <a:spcPct val="100000"/>
              </a:lnSpc>
            </a:pPr>
            <a:r>
              <a:rPr sz="1300" b="1" i="0">
                <a:solidFill>
                  <a:srgbClr val="8CA0A8"/>
                </a:solidFill>
                <a:latin typeface="Arial Black"/>
              </a:rPr>
              <a:t>Social 'guess the score'</a:t>
            </a:r>
          </a:p>
        </p:txBody>
      </p:sp>
      <p:sp>
        <p:nvSpPr>
          <p:cNvPr id="18" name="TextBox 17"/>
          <p:cNvSpPr txBox="1"/>
          <p:nvPr/>
        </p:nvSpPr>
        <p:spPr>
          <a:xfrm>
            <a:off x="1366113" y="4632807"/>
            <a:ext cx="3017520" cy="822960"/>
          </a:xfrm>
          <a:prstGeom prst="rect">
            <a:avLst/>
          </a:prstGeom>
          <a:noFill/>
        </p:spPr>
        <p:txBody>
          <a:bodyPr wrap="square" anchor="t" lIns="0" rIns="0" tIns="0" bIns="0">
            <a:spAutoFit/>
          </a:bodyPr>
          <a:lstStyle/>
          <a:p>
            <a:pPr algn="l">
              <a:lnSpc>
                <a:spcPct val="108000"/>
              </a:lnSpc>
            </a:pPr>
            <a:r>
              <a:rPr sz="1050" b="0" i="0">
                <a:solidFill>
                  <a:srgbClr val="8CA0A8"/>
                </a:solidFill>
                <a:latin typeface="Arial"/>
              </a:rPr>
              <a:t>Fun, but no real stake and no proof.</a:t>
            </a:r>
          </a:p>
        </p:txBody>
      </p:sp>
      <p:sp>
        <p:nvSpPr>
          <p:cNvPr id="19" name="Rounded Rectangle 18"/>
          <p:cNvSpPr/>
          <p:nvPr/>
        </p:nvSpPr>
        <p:spPr>
          <a:xfrm>
            <a:off x="5309006" y="4157319"/>
            <a:ext cx="3383280" cy="1234440"/>
          </a:xfrm>
          <a:prstGeom prst="roundRect">
            <a:avLst>
              <a:gd name="adj" fmla="val 12000"/>
            </a:avLst>
          </a:prstGeom>
          <a:solidFill>
            <a:srgbClr val="1B242C"/>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91886" y="4303623"/>
            <a:ext cx="3017520" cy="457200"/>
          </a:xfrm>
          <a:prstGeom prst="rect">
            <a:avLst/>
          </a:prstGeom>
          <a:noFill/>
        </p:spPr>
        <p:txBody>
          <a:bodyPr wrap="square" anchor="t" lIns="0" rIns="0" tIns="0" bIns="0">
            <a:spAutoFit/>
          </a:bodyPr>
          <a:lstStyle/>
          <a:p>
            <a:pPr algn="l">
              <a:lnSpc>
                <a:spcPct val="100000"/>
              </a:lnSpc>
            </a:pPr>
            <a:r>
              <a:rPr sz="1300" b="1" i="0">
                <a:solidFill>
                  <a:srgbClr val="E8EEF2"/>
                </a:solidFill>
                <a:latin typeface="Arial Black"/>
              </a:rPr>
              <a:t>Post-hoc prediction markets</a:t>
            </a:r>
          </a:p>
        </p:txBody>
      </p:sp>
      <p:sp>
        <p:nvSpPr>
          <p:cNvPr id="21" name="TextBox 20"/>
          <p:cNvSpPr txBox="1"/>
          <p:nvPr/>
        </p:nvSpPr>
        <p:spPr>
          <a:xfrm>
            <a:off x="5491886" y="4632807"/>
            <a:ext cx="3017520" cy="822960"/>
          </a:xfrm>
          <a:prstGeom prst="rect">
            <a:avLst/>
          </a:prstGeom>
          <a:noFill/>
        </p:spPr>
        <p:txBody>
          <a:bodyPr wrap="square" anchor="t" lIns="0" rIns="0" tIns="0" bIns="0">
            <a:spAutoFit/>
          </a:bodyPr>
          <a:lstStyle/>
          <a:p>
            <a:pPr algn="l">
              <a:lnSpc>
                <a:spcPct val="108000"/>
              </a:lnSpc>
            </a:pPr>
            <a:r>
              <a:rPr sz="1050" b="0" i="0">
                <a:solidFill>
                  <a:srgbClr val="8CA0A8"/>
                </a:solidFill>
                <a:latin typeface="Arial"/>
              </a:rPr>
              <a:t>On-chain, but not live — settles after the fact.</a:t>
            </a:r>
          </a:p>
        </p:txBody>
      </p:sp>
      <p:sp>
        <p:nvSpPr>
          <p:cNvPr id="22" name="TextBox 21"/>
          <p:cNvSpPr txBox="1"/>
          <p:nvPr/>
        </p:nvSpPr>
        <p:spPr>
          <a:xfrm>
            <a:off x="9509760" y="1828800"/>
            <a:ext cx="2331720" cy="3840480"/>
          </a:xfrm>
          <a:prstGeom prst="rect">
            <a:avLst/>
          </a:prstGeom>
          <a:noFill/>
        </p:spPr>
        <p:txBody>
          <a:bodyPr wrap="square" anchor="t" lIns="0" rIns="0" tIns="0" bIns="0">
            <a:spAutoFit/>
          </a:bodyPr>
          <a:lstStyle/>
          <a:p>
            <a:pPr algn="l">
              <a:lnSpc>
                <a:spcPct val="115000"/>
              </a:lnSpc>
            </a:pPr>
            <a:r>
              <a:rPr sz="1100" b="1" i="0" spc="200">
                <a:solidFill>
                  <a:srgbClr val="B6FF3C"/>
                </a:solidFill>
                <a:latin typeface="Arial Black"/>
              </a:rPr>
              <a:t>THE OPEN SPACE</a:t>
            </a:r>
          </a:p>
          <a:p>
            <a:pPr algn="l">
              <a:lnSpc>
                <a:spcPct val="115000"/>
              </a:lnSpc>
            </a:pPr>
            <a:r>
              <a:rPr sz="600" b="0" i="0">
                <a:solidFill>
                  <a:srgbClr val="8CA0A8"/>
                </a:solidFill>
                <a:latin typeface="Arial"/>
              </a:rPr>
              <a:t/>
            </a:r>
          </a:p>
          <a:p>
            <a:pPr algn="l">
              <a:lnSpc>
                <a:spcPct val="115000"/>
              </a:lnSpc>
            </a:pPr>
            <a:r>
              <a:rPr sz="1300" b="0" i="0">
                <a:solidFill>
                  <a:srgbClr val="E8EEF2"/>
                </a:solidFill>
                <a:latin typeface="Arial"/>
              </a:rPr>
              <a:t>Everyone owns one property. </a:t>
            </a:r>
          </a:p>
          <a:p>
            <a:pPr algn="l">
              <a:lnSpc>
                <a:spcPct val="115000"/>
              </a:lnSpc>
            </a:pPr>
            <a:r>
              <a:rPr sz="500" b="0" i="0">
                <a:solidFill>
                  <a:srgbClr val="8CA0A8"/>
                </a:solidFill>
                <a:latin typeface="Arial"/>
              </a:rPr>
              <a:t/>
            </a:r>
          </a:p>
          <a:p>
            <a:pPr algn="l">
              <a:lnSpc>
                <a:spcPct val="115000"/>
              </a:lnSpc>
            </a:pPr>
            <a:r>
              <a:rPr sz="1300" b="0" i="0">
                <a:solidFill>
                  <a:srgbClr val="8CA0A8"/>
                </a:solidFill>
                <a:latin typeface="Arial"/>
              </a:rPr>
              <a:t>Nobody owned </a:t>
            </a:r>
            <a:r>
              <a:rPr sz="1300" b="1" i="0">
                <a:solidFill>
                  <a:srgbClr val="B6FF3C"/>
                </a:solidFill>
                <a:latin typeface="Arial"/>
              </a:rPr>
              <a:t>both</a:t>
            </a:r>
            <a:r>
              <a:rPr sz="1300" b="0" i="0">
                <a:solidFill>
                  <a:srgbClr val="8CA0A8"/>
                </a:solidFill>
                <a:latin typeface="Arial"/>
              </a:rPr>
              <a:t> live and trustless — the top-right corner.</a:t>
            </a:r>
          </a:p>
          <a:p>
            <a:pPr algn="l">
              <a:lnSpc>
                <a:spcPct val="115000"/>
              </a:lnSpc>
            </a:pPr>
            <a:r>
              <a:rPr sz="500" b="0" i="0">
                <a:solidFill>
                  <a:srgbClr val="8CA0A8"/>
                </a:solidFill>
                <a:latin typeface="Arial"/>
              </a:rPr>
              <a:t/>
            </a:r>
          </a:p>
          <a:p>
            <a:pPr algn="l">
              <a:lnSpc>
                <a:spcPct val="115000"/>
              </a:lnSpc>
            </a:pPr>
            <a:r>
              <a:rPr sz="1300" b="1" i="0">
                <a:solidFill>
                  <a:srgbClr val="E8EEF2"/>
                </a:solidFill>
                <a:latin typeface="Arial"/>
              </a:rPr>
              <a:t>Called It sits there alone.</a:t>
            </a:r>
          </a:p>
        </p:txBody>
      </p:sp>
      <p:sp>
        <p:nvSpPr>
          <p:cNvPr id="23" name="Rounded Rectangle 22"/>
          <p:cNvSpPr/>
          <p:nvPr/>
        </p:nvSpPr>
        <p:spPr>
          <a:xfrm>
            <a:off x="640080" y="5989320"/>
            <a:ext cx="10908792" cy="457200"/>
          </a:xfrm>
          <a:prstGeom prst="roundRect">
            <a:avLst>
              <a:gd name="adj" fmla="val 14000"/>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989320"/>
            <a:ext cx="10908792" cy="457200"/>
          </a:xfrm>
          <a:prstGeom prst="rect">
            <a:avLst/>
          </a:prstGeom>
          <a:noFill/>
        </p:spPr>
        <p:txBody>
          <a:bodyPr wrap="square" anchor="ctr" lIns="0" rIns="0" tIns="0" bIns="0">
            <a:spAutoFit/>
          </a:bodyPr>
          <a:lstStyle/>
          <a:p>
            <a:pPr algn="ctr">
              <a:lnSpc>
                <a:spcPct val="100000"/>
              </a:lnSpc>
            </a:pPr>
            <a:r>
              <a:rPr sz="1400" b="1" i="0">
                <a:solidFill>
                  <a:srgbClr val="0B0F14"/>
                </a:solidFill>
                <a:latin typeface="Arial Black"/>
              </a:rPr>
              <a:t>Only Called It is live and trustless — you call it, the chain proves it.</a:t>
            </a:r>
          </a:p>
        </p:txBody>
      </p:sp>
      <p:sp>
        <p:nvSpPr>
          <p:cNvPr id="25" name="TextBox 24"/>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Called It  ·  FIFA World Cup 2026  ·  Solana</a:t>
            </a:r>
          </a:p>
        </p:txBody>
      </p:sp>
      <p:sp>
        <p:nvSpPr>
          <p:cNvPr id="26" name="TextBox 25"/>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09 / 16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MARKET &amp; SCALE</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Start at the World Cup. Replicate to every live stat feed.</a:t>
            </a:r>
          </a:p>
        </p:txBody>
      </p:sp>
      <p:sp>
        <p:nvSpPr>
          <p:cNvPr id="5" name="Rounded Rectangle 4"/>
          <p:cNvSpPr/>
          <p:nvPr/>
        </p:nvSpPr>
        <p:spPr>
          <a:xfrm>
            <a:off x="640080" y="2011680"/>
            <a:ext cx="6126480" cy="1097280"/>
          </a:xfrm>
          <a:prstGeom prst="roundRect">
            <a:avLst>
              <a:gd name="adj" fmla="val 8000"/>
            </a:avLst>
          </a:prstGeom>
          <a:solidFill>
            <a:srgbClr val="131A21"/>
          </a:solidFill>
          <a:ln w="15875">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194560"/>
            <a:ext cx="5577840" cy="457200"/>
          </a:xfrm>
          <a:prstGeom prst="rect">
            <a:avLst/>
          </a:prstGeom>
          <a:noFill/>
        </p:spPr>
        <p:txBody>
          <a:bodyPr wrap="square" anchor="t" lIns="0" rIns="0" tIns="0" bIns="0">
            <a:spAutoFit/>
          </a:bodyPr>
          <a:lstStyle/>
          <a:p>
            <a:pPr algn="l">
              <a:lnSpc>
                <a:spcPct val="100000"/>
              </a:lnSpc>
            </a:pPr>
            <a:r>
              <a:rPr sz="1800" b="1" i="0">
                <a:solidFill>
                  <a:srgbClr val="E8EEF2"/>
                </a:solidFill>
                <a:latin typeface="Arial Black"/>
              </a:rPr>
              <a:t>FIFA World Cup 2026</a:t>
            </a:r>
          </a:p>
        </p:txBody>
      </p:sp>
      <p:sp>
        <p:nvSpPr>
          <p:cNvPr id="7" name="TextBox 6"/>
          <p:cNvSpPr txBox="1"/>
          <p:nvPr/>
        </p:nvSpPr>
        <p:spPr>
          <a:xfrm>
            <a:off x="960120" y="2651760"/>
            <a:ext cx="5577840" cy="411480"/>
          </a:xfrm>
          <a:prstGeom prst="rect">
            <a:avLst/>
          </a:prstGeom>
          <a:noFill/>
        </p:spPr>
        <p:txBody>
          <a:bodyPr wrap="square" anchor="t" lIns="0" rIns="0" tIns="0" bIns="0">
            <a:spAutoFit/>
          </a:bodyPr>
          <a:lstStyle/>
          <a:p>
            <a:pPr algn="l">
              <a:lnSpc>
                <a:spcPct val="100000"/>
              </a:lnSpc>
            </a:pPr>
            <a:r>
              <a:rPr sz="1250" b="0" i="0">
                <a:solidFill>
                  <a:srgbClr val="8CA0A8"/>
                </a:solidFill>
                <a:latin typeface="Arial"/>
              </a:rPr>
              <a:t>104 matches · billions of live viewers · the launch moment</a:t>
            </a:r>
          </a:p>
        </p:txBody>
      </p:sp>
      <p:sp>
        <p:nvSpPr>
          <p:cNvPr id="8" name="Rounded Rectangle 7"/>
          <p:cNvSpPr/>
          <p:nvPr/>
        </p:nvSpPr>
        <p:spPr>
          <a:xfrm>
            <a:off x="640080" y="3291840"/>
            <a:ext cx="5303520" cy="1097280"/>
          </a:xfrm>
          <a:prstGeom prst="roundRect">
            <a:avLst>
              <a:gd name="adj" fmla="val 8000"/>
            </a:avLst>
          </a:prstGeom>
          <a:solidFill>
            <a:srgbClr val="131A21"/>
          </a:solidFill>
          <a:ln w="15875">
            <a:solidFill>
              <a:srgbClr val="FF7A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3474720"/>
            <a:ext cx="4754880" cy="457200"/>
          </a:xfrm>
          <a:prstGeom prst="rect">
            <a:avLst/>
          </a:prstGeom>
          <a:noFill/>
        </p:spPr>
        <p:txBody>
          <a:bodyPr wrap="square" anchor="t" lIns="0" rIns="0" tIns="0" bIns="0">
            <a:spAutoFit/>
          </a:bodyPr>
          <a:lstStyle/>
          <a:p>
            <a:pPr algn="l">
              <a:lnSpc>
                <a:spcPct val="100000"/>
              </a:lnSpc>
            </a:pPr>
            <a:r>
              <a:rPr sz="1800" b="1" i="0">
                <a:solidFill>
                  <a:srgbClr val="E8EEF2"/>
                </a:solidFill>
                <a:latin typeface="Arial Black"/>
              </a:rPr>
              <a:t>Any football league</a:t>
            </a:r>
          </a:p>
        </p:txBody>
      </p:sp>
      <p:sp>
        <p:nvSpPr>
          <p:cNvPr id="10" name="TextBox 9"/>
          <p:cNvSpPr txBox="1"/>
          <p:nvPr/>
        </p:nvSpPr>
        <p:spPr>
          <a:xfrm>
            <a:off x="960120" y="3931920"/>
            <a:ext cx="4754880" cy="411480"/>
          </a:xfrm>
          <a:prstGeom prst="rect">
            <a:avLst/>
          </a:prstGeom>
          <a:noFill/>
        </p:spPr>
        <p:txBody>
          <a:bodyPr wrap="square" anchor="t" lIns="0" rIns="0" tIns="0" bIns="0">
            <a:spAutoFit/>
          </a:bodyPr>
          <a:lstStyle/>
          <a:p>
            <a:pPr algn="l">
              <a:lnSpc>
                <a:spcPct val="100000"/>
              </a:lnSpc>
            </a:pPr>
            <a:r>
              <a:rPr sz="1250" b="0" i="0">
                <a:solidFill>
                  <a:srgbClr val="8CA0A8"/>
                </a:solidFill>
                <a:latin typeface="Arial"/>
              </a:rPr>
              <a:t>domestic leagues run year-round — the same markets, always on</a:t>
            </a:r>
          </a:p>
        </p:txBody>
      </p:sp>
      <p:sp>
        <p:nvSpPr>
          <p:cNvPr id="11" name="Rounded Rectangle 10"/>
          <p:cNvSpPr/>
          <p:nvPr/>
        </p:nvSpPr>
        <p:spPr>
          <a:xfrm>
            <a:off x="640080" y="4572000"/>
            <a:ext cx="4480560" cy="1097280"/>
          </a:xfrm>
          <a:prstGeom prst="roundRect">
            <a:avLst>
              <a:gd name="adj" fmla="val 8000"/>
            </a:avLst>
          </a:prstGeom>
          <a:solidFill>
            <a:srgbClr val="131A21"/>
          </a:solidFill>
          <a:ln w="15875">
            <a:solidFill>
              <a:srgbClr val="E8EEF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4754880"/>
            <a:ext cx="3931920" cy="457200"/>
          </a:xfrm>
          <a:prstGeom prst="rect">
            <a:avLst/>
          </a:prstGeom>
          <a:noFill/>
        </p:spPr>
        <p:txBody>
          <a:bodyPr wrap="square" anchor="t" lIns="0" rIns="0" tIns="0" bIns="0">
            <a:spAutoFit/>
          </a:bodyPr>
          <a:lstStyle/>
          <a:p>
            <a:pPr algn="l">
              <a:lnSpc>
                <a:spcPct val="100000"/>
              </a:lnSpc>
            </a:pPr>
            <a:r>
              <a:rPr sz="1800" b="1" i="0">
                <a:solidFill>
                  <a:srgbClr val="E8EEF2"/>
                </a:solidFill>
                <a:latin typeface="Arial Black"/>
              </a:rPr>
              <a:t>Any live sport &amp; stat</a:t>
            </a:r>
          </a:p>
        </p:txBody>
      </p:sp>
      <p:sp>
        <p:nvSpPr>
          <p:cNvPr id="13" name="TextBox 12"/>
          <p:cNvSpPr txBox="1"/>
          <p:nvPr/>
        </p:nvSpPr>
        <p:spPr>
          <a:xfrm>
            <a:off x="960120" y="5212080"/>
            <a:ext cx="3931920" cy="411480"/>
          </a:xfrm>
          <a:prstGeom prst="rect">
            <a:avLst/>
          </a:prstGeom>
          <a:noFill/>
        </p:spPr>
        <p:txBody>
          <a:bodyPr wrap="square" anchor="t" lIns="0" rIns="0" tIns="0" bIns="0">
            <a:spAutoFit/>
          </a:bodyPr>
          <a:lstStyle/>
          <a:p>
            <a:pPr algn="l">
              <a:lnSpc>
                <a:spcPct val="100000"/>
              </a:lnSpc>
            </a:pPr>
            <a:r>
              <a:rPr sz="1250" b="0" i="0">
                <a:solidFill>
                  <a:srgbClr val="8CA0A8"/>
                </a:solidFill>
                <a:latin typeface="Arial"/>
              </a:rPr>
              <a:t>basketball, tennis, esports — anything with a live stat feed</a:t>
            </a:r>
          </a:p>
        </p:txBody>
      </p:sp>
      <p:sp>
        <p:nvSpPr>
          <p:cNvPr id="14" name="Rounded Rectangle 13"/>
          <p:cNvSpPr/>
          <p:nvPr/>
        </p:nvSpPr>
        <p:spPr>
          <a:xfrm>
            <a:off x="7223760" y="2011680"/>
            <a:ext cx="4343400" cy="384048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0" y="2286000"/>
            <a:ext cx="3611880" cy="365760"/>
          </a:xfrm>
          <a:prstGeom prst="rect">
            <a:avLst/>
          </a:prstGeom>
          <a:noFill/>
        </p:spPr>
        <p:txBody>
          <a:bodyPr wrap="square" anchor="t" lIns="0" rIns="0" tIns="0" bIns="0">
            <a:spAutoFit/>
          </a:bodyPr>
          <a:lstStyle/>
          <a:p>
            <a:pPr algn="l">
              <a:lnSpc>
                <a:spcPct val="100000"/>
              </a:lnSpc>
            </a:pPr>
            <a:r>
              <a:rPr sz="1200" b="1" i="0" spc="200">
                <a:solidFill>
                  <a:srgbClr val="B6FF3C"/>
                </a:solidFill>
                <a:latin typeface="Arial Black"/>
              </a:rPr>
              <a:t>WHY IT SCALES</a:t>
            </a:r>
          </a:p>
        </p:txBody>
      </p:sp>
      <p:sp>
        <p:nvSpPr>
          <p:cNvPr id="16" name="Oval 15"/>
          <p:cNvSpPr/>
          <p:nvPr/>
        </p:nvSpPr>
        <p:spPr>
          <a:xfrm>
            <a:off x="7589520" y="2834640"/>
            <a:ext cx="128016" cy="128016"/>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2788920"/>
            <a:ext cx="3337560" cy="777240"/>
          </a:xfrm>
          <a:prstGeom prst="rect">
            <a:avLst/>
          </a:prstGeom>
          <a:noFill/>
        </p:spPr>
        <p:txBody>
          <a:bodyPr wrap="square" anchor="t" lIns="0" rIns="0" tIns="0" bIns="0">
            <a:spAutoFit/>
          </a:bodyPr>
          <a:lstStyle/>
          <a:p>
            <a:pPr algn="l">
              <a:lnSpc>
                <a:spcPct val="115000"/>
              </a:lnSpc>
            </a:pPr>
            <a:r>
              <a:rPr sz="1300" b="0" i="0">
                <a:solidFill>
                  <a:srgbClr val="E8EEF2"/>
                </a:solidFill>
                <a:latin typeface="Arial"/>
              </a:rPr>
              <a:t>Markets are feed-driven — add a sport by adding a feed, not rebuilding the app.</a:t>
            </a:r>
          </a:p>
        </p:txBody>
      </p:sp>
      <p:sp>
        <p:nvSpPr>
          <p:cNvPr id="18" name="Oval 17"/>
          <p:cNvSpPr/>
          <p:nvPr/>
        </p:nvSpPr>
        <p:spPr>
          <a:xfrm>
            <a:off x="7589520" y="3584448"/>
            <a:ext cx="128016" cy="128016"/>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38728"/>
            <a:ext cx="3337560" cy="777240"/>
          </a:xfrm>
          <a:prstGeom prst="rect">
            <a:avLst/>
          </a:prstGeom>
          <a:noFill/>
        </p:spPr>
        <p:txBody>
          <a:bodyPr wrap="square" anchor="t" lIns="0" rIns="0" tIns="0" bIns="0">
            <a:spAutoFit/>
          </a:bodyPr>
          <a:lstStyle/>
          <a:p>
            <a:pPr algn="l">
              <a:lnSpc>
                <a:spcPct val="115000"/>
              </a:lnSpc>
            </a:pPr>
            <a:r>
              <a:rPr sz="1300" b="0" i="0">
                <a:solidFill>
                  <a:srgbClr val="E8EEF2"/>
                </a:solidFill>
                <a:latin typeface="Arial"/>
              </a:rPr>
              <a:t>Settlement logic is generic over any provable stat (goals, corners, points…).</a:t>
            </a:r>
          </a:p>
        </p:txBody>
      </p:sp>
      <p:sp>
        <p:nvSpPr>
          <p:cNvPr id="20" name="Oval 19"/>
          <p:cNvSpPr/>
          <p:nvPr/>
        </p:nvSpPr>
        <p:spPr>
          <a:xfrm>
            <a:off x="7589520" y="4334256"/>
            <a:ext cx="128016" cy="128016"/>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0" y="4288536"/>
            <a:ext cx="3337560" cy="777240"/>
          </a:xfrm>
          <a:prstGeom prst="rect">
            <a:avLst/>
          </a:prstGeom>
          <a:noFill/>
        </p:spPr>
        <p:txBody>
          <a:bodyPr wrap="square" anchor="t" lIns="0" rIns="0" tIns="0" bIns="0">
            <a:spAutoFit/>
          </a:bodyPr>
          <a:lstStyle/>
          <a:p>
            <a:pPr algn="l">
              <a:lnSpc>
                <a:spcPct val="115000"/>
              </a:lnSpc>
            </a:pPr>
            <a:r>
              <a:rPr sz="1300" b="0" i="0">
                <a:solidFill>
                  <a:srgbClr val="E8EEF2"/>
                </a:solidFill>
                <a:latin typeface="Arial"/>
              </a:rPr>
              <a:t>On-chain rails mean no per-market banking, licensing bottleneck, or house float.</a:t>
            </a:r>
          </a:p>
        </p:txBody>
      </p:sp>
      <p:sp>
        <p:nvSpPr>
          <p:cNvPr id="22" name="Oval 21"/>
          <p:cNvSpPr/>
          <p:nvPr/>
        </p:nvSpPr>
        <p:spPr>
          <a:xfrm>
            <a:off x="7589520" y="5084064"/>
            <a:ext cx="128016" cy="128016"/>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863840" y="5038344"/>
            <a:ext cx="3337560" cy="777240"/>
          </a:xfrm>
          <a:prstGeom prst="rect">
            <a:avLst/>
          </a:prstGeom>
          <a:noFill/>
        </p:spPr>
        <p:txBody>
          <a:bodyPr wrap="square" anchor="t" lIns="0" rIns="0" tIns="0" bIns="0">
            <a:spAutoFit/>
          </a:bodyPr>
          <a:lstStyle/>
          <a:p>
            <a:pPr algn="l">
              <a:lnSpc>
                <a:spcPct val="115000"/>
              </a:lnSpc>
            </a:pPr>
            <a:r>
              <a:rPr sz="1300" b="0" i="0">
                <a:solidFill>
                  <a:srgbClr val="E8EEF2"/>
                </a:solidFill>
                <a:latin typeface="Arial"/>
              </a:rPr>
              <a:t>Mobile-first PWA — no app-store gate, instant global reach.</a:t>
            </a:r>
          </a:p>
        </p:txBody>
      </p:sp>
      <p:sp>
        <p:nvSpPr>
          <p:cNvPr id="24" name="TextBox 23"/>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Called It  ·  FIFA World Cup 2026  ·  Solana</a:t>
            </a:r>
          </a:p>
        </p:txBody>
      </p:sp>
      <p:sp>
        <p:nvSpPr>
          <p:cNvPr id="25" name="TextBox 24"/>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10 / 16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TECH &amp; TRUST</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A real pipeline — signed, verified, settled, and open.</a:t>
            </a:r>
          </a:p>
        </p:txBody>
      </p:sp>
      <p:sp>
        <p:nvSpPr>
          <p:cNvPr id="5" name="Rounded Rectangle 4"/>
          <p:cNvSpPr/>
          <p:nvPr/>
        </p:nvSpPr>
        <p:spPr>
          <a:xfrm>
            <a:off x="640080" y="1965960"/>
            <a:ext cx="5257800" cy="1828800"/>
          </a:xfrm>
          <a:prstGeom prst="roundRect">
            <a:avLst>
              <a:gd name="adj" fmla="val 7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965960"/>
            <a:ext cx="82296" cy="1828800"/>
          </a:xfrm>
          <a:prstGeom prst="rect">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221992"/>
            <a:ext cx="4617720" cy="457200"/>
          </a:xfrm>
          <a:prstGeom prst="rect">
            <a:avLst/>
          </a:prstGeom>
          <a:noFill/>
        </p:spPr>
        <p:txBody>
          <a:bodyPr wrap="square" anchor="t" lIns="0" rIns="0" tIns="0" bIns="0">
            <a:spAutoFit/>
          </a:bodyPr>
          <a:lstStyle/>
          <a:p>
            <a:pPr algn="l">
              <a:lnSpc>
                <a:spcPct val="100000"/>
              </a:lnSpc>
            </a:pPr>
            <a:r>
              <a:rPr sz="1800" b="1" i="0">
                <a:solidFill>
                  <a:srgbClr val="E8EEF2"/>
                </a:solidFill>
                <a:latin typeface="Arial Black"/>
              </a:rPr>
              <a:t>Solana devnet</a:t>
            </a:r>
          </a:p>
        </p:txBody>
      </p:sp>
      <p:sp>
        <p:nvSpPr>
          <p:cNvPr id="8" name="TextBox 7"/>
          <p:cNvSpPr txBox="1"/>
          <p:nvPr/>
        </p:nvSpPr>
        <p:spPr>
          <a:xfrm>
            <a:off x="960120" y="2788920"/>
            <a:ext cx="4617720" cy="914400"/>
          </a:xfrm>
          <a:prstGeom prst="rect">
            <a:avLst/>
          </a:prstGeom>
          <a:noFill/>
        </p:spPr>
        <p:txBody>
          <a:bodyPr wrap="square" anchor="t" lIns="0" rIns="0" tIns="0" bIns="0">
            <a:spAutoFit/>
          </a:bodyPr>
          <a:lstStyle/>
          <a:p>
            <a:pPr algn="l">
              <a:lnSpc>
                <a:spcPct val="122000"/>
              </a:lnSpc>
            </a:pPr>
            <a:r>
              <a:rPr sz="1350" b="0" i="0">
                <a:solidFill>
                  <a:srgbClr val="8CA0A8"/>
                </a:solidFill>
                <a:latin typeface="Arial"/>
              </a:rPr>
              <a:t>Phantom signs real devnet SOL stakes; the backend verifies each tx on-chain before stamping the prediction.</a:t>
            </a:r>
          </a:p>
        </p:txBody>
      </p:sp>
      <p:sp>
        <p:nvSpPr>
          <p:cNvPr id="9" name="Rounded Rectangle 8"/>
          <p:cNvSpPr/>
          <p:nvPr/>
        </p:nvSpPr>
        <p:spPr>
          <a:xfrm>
            <a:off x="6281928" y="1965960"/>
            <a:ext cx="5257800" cy="1828800"/>
          </a:xfrm>
          <a:prstGeom prst="roundRect">
            <a:avLst>
              <a:gd name="adj" fmla="val 7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81928" y="1965960"/>
            <a:ext cx="82296" cy="1828800"/>
          </a:xfrm>
          <a:prstGeom prst="rect">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1968" y="2221992"/>
            <a:ext cx="4617720" cy="457200"/>
          </a:xfrm>
          <a:prstGeom prst="rect">
            <a:avLst/>
          </a:prstGeom>
          <a:noFill/>
        </p:spPr>
        <p:txBody>
          <a:bodyPr wrap="square" anchor="t" lIns="0" rIns="0" tIns="0" bIns="0">
            <a:spAutoFit/>
          </a:bodyPr>
          <a:lstStyle/>
          <a:p>
            <a:pPr algn="l">
              <a:lnSpc>
                <a:spcPct val="100000"/>
              </a:lnSpc>
            </a:pPr>
            <a:r>
              <a:rPr sz="1800" b="1" i="0">
                <a:solidFill>
                  <a:srgbClr val="E8EEF2"/>
                </a:solidFill>
                <a:latin typeface="Arial Black"/>
              </a:rPr>
              <a:t>TxODDS TxLINE feed</a:t>
            </a:r>
          </a:p>
        </p:txBody>
      </p:sp>
      <p:sp>
        <p:nvSpPr>
          <p:cNvPr id="12" name="TextBox 11"/>
          <p:cNvSpPr txBox="1"/>
          <p:nvPr/>
        </p:nvSpPr>
        <p:spPr>
          <a:xfrm>
            <a:off x="6601968" y="2788920"/>
            <a:ext cx="4617720" cy="914400"/>
          </a:xfrm>
          <a:prstGeom prst="rect">
            <a:avLst/>
          </a:prstGeom>
          <a:noFill/>
        </p:spPr>
        <p:txBody>
          <a:bodyPr wrap="square" anchor="t" lIns="0" rIns="0" tIns="0" bIns="0">
            <a:spAutoFit/>
          </a:bodyPr>
          <a:lstStyle/>
          <a:p>
            <a:pPr algn="l">
              <a:lnSpc>
                <a:spcPct val="122000"/>
              </a:lnSpc>
            </a:pPr>
            <a:r>
              <a:rPr sz="1350" b="0" i="0">
                <a:solidFill>
                  <a:srgbClr val="8CA0A8"/>
                </a:solidFill>
                <a:latin typeface="Arial"/>
              </a:rPr>
              <a:t>Live match events ingested over SSE into feed_events — the source of truth for what actually happened.</a:t>
            </a:r>
          </a:p>
        </p:txBody>
      </p:sp>
      <p:sp>
        <p:nvSpPr>
          <p:cNvPr id="13" name="Rounded Rectangle 12"/>
          <p:cNvSpPr/>
          <p:nvPr/>
        </p:nvSpPr>
        <p:spPr>
          <a:xfrm>
            <a:off x="640080" y="4114800"/>
            <a:ext cx="5257800" cy="1828800"/>
          </a:xfrm>
          <a:prstGeom prst="roundRect">
            <a:avLst>
              <a:gd name="adj" fmla="val 7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0080" y="4114800"/>
            <a:ext cx="82296" cy="1828800"/>
          </a:xfrm>
          <a:prstGeom prst="rect">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370832"/>
            <a:ext cx="4617720" cy="457200"/>
          </a:xfrm>
          <a:prstGeom prst="rect">
            <a:avLst/>
          </a:prstGeom>
          <a:noFill/>
        </p:spPr>
        <p:txBody>
          <a:bodyPr wrap="square" anchor="t" lIns="0" rIns="0" tIns="0" bIns="0">
            <a:spAutoFit/>
          </a:bodyPr>
          <a:lstStyle/>
          <a:p>
            <a:pPr algn="l">
              <a:lnSpc>
                <a:spcPct val="100000"/>
              </a:lnSpc>
            </a:pPr>
            <a:r>
              <a:rPr sz="1800" b="1" i="0">
                <a:solidFill>
                  <a:srgbClr val="E8EEF2"/>
                </a:solidFill>
                <a:latin typeface="Arial Black"/>
              </a:rPr>
              <a:t>TxOracle validate_stat</a:t>
            </a:r>
          </a:p>
        </p:txBody>
      </p:sp>
      <p:sp>
        <p:nvSpPr>
          <p:cNvPr id="16" name="TextBox 15"/>
          <p:cNvSpPr txBox="1"/>
          <p:nvPr/>
        </p:nvSpPr>
        <p:spPr>
          <a:xfrm>
            <a:off x="960120" y="4937760"/>
            <a:ext cx="4617720" cy="914400"/>
          </a:xfrm>
          <a:prstGeom prst="rect">
            <a:avLst/>
          </a:prstGeom>
          <a:noFill/>
        </p:spPr>
        <p:txBody>
          <a:bodyPr wrap="square" anchor="t" lIns="0" rIns="0" tIns="0" bIns="0">
            <a:spAutoFit/>
          </a:bodyPr>
          <a:lstStyle/>
          <a:p>
            <a:pPr algn="l">
              <a:lnSpc>
                <a:spcPct val="122000"/>
              </a:lnSpc>
            </a:pPr>
            <a:r>
              <a:rPr sz="1350" b="0" i="0">
                <a:solidFill>
                  <a:srgbClr val="8CA0A8"/>
                </a:solidFill>
                <a:latin typeface="Arial"/>
              </a:rPr>
              <a:t>An Anchor program cross-checks the settling stat on-chain (advisory) before a market pays out.</a:t>
            </a:r>
          </a:p>
        </p:txBody>
      </p:sp>
      <p:sp>
        <p:nvSpPr>
          <p:cNvPr id="17" name="Rounded Rectangle 16"/>
          <p:cNvSpPr/>
          <p:nvPr/>
        </p:nvSpPr>
        <p:spPr>
          <a:xfrm>
            <a:off x="6281928" y="4114800"/>
            <a:ext cx="5257800" cy="1828800"/>
          </a:xfrm>
          <a:prstGeom prst="roundRect">
            <a:avLst>
              <a:gd name="adj" fmla="val 7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81928" y="4114800"/>
            <a:ext cx="82296" cy="1828800"/>
          </a:xfrm>
          <a:prstGeom prst="rect">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01968" y="4370832"/>
            <a:ext cx="4617720" cy="457200"/>
          </a:xfrm>
          <a:prstGeom prst="rect">
            <a:avLst/>
          </a:prstGeom>
          <a:noFill/>
        </p:spPr>
        <p:txBody>
          <a:bodyPr wrap="square" anchor="t" lIns="0" rIns="0" tIns="0" bIns="0">
            <a:spAutoFit/>
          </a:bodyPr>
          <a:lstStyle/>
          <a:p>
            <a:pPr algn="l">
              <a:lnSpc>
                <a:spcPct val="100000"/>
              </a:lnSpc>
            </a:pPr>
            <a:r>
              <a:rPr sz="1800" b="1" i="0">
                <a:solidFill>
                  <a:srgbClr val="E8EEF2"/>
                </a:solidFill>
                <a:latin typeface="Arial Black"/>
              </a:rPr>
              <a:t>Open &amp; verifiable</a:t>
            </a:r>
          </a:p>
        </p:txBody>
      </p:sp>
      <p:sp>
        <p:nvSpPr>
          <p:cNvPr id="20" name="TextBox 19"/>
          <p:cNvSpPr txBox="1"/>
          <p:nvPr/>
        </p:nvSpPr>
        <p:spPr>
          <a:xfrm>
            <a:off x="6601968" y="4937760"/>
            <a:ext cx="4617720" cy="914400"/>
          </a:xfrm>
          <a:prstGeom prst="rect">
            <a:avLst/>
          </a:prstGeom>
          <a:noFill/>
        </p:spPr>
        <p:txBody>
          <a:bodyPr wrap="square" anchor="t" lIns="0" rIns="0" tIns="0" bIns="0">
            <a:spAutoFit/>
          </a:bodyPr>
          <a:lstStyle/>
          <a:p>
            <a:pPr algn="l">
              <a:lnSpc>
                <a:spcPct val="122000"/>
              </a:lnSpc>
            </a:pPr>
            <a:r>
              <a:rPr sz="1350" b="0" i="0">
                <a:solidFill>
                  <a:srgbClr val="8CA0A8"/>
                </a:solidFill>
                <a:latin typeface="Arial"/>
              </a:rPr>
              <a:t>Every stake carries its tx hash + block time. Anyone can audit any outcome on the public explorer.</a:t>
            </a:r>
          </a:p>
        </p:txBody>
      </p:sp>
      <p:sp>
        <p:nvSpPr>
          <p:cNvPr id="21" name="TextBox 20"/>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Backend: Fastify + Postgres (Railway, Node 22) · Frontend: Vite + React 19 PWA, Feature-Sliced</a:t>
            </a:r>
          </a:p>
        </p:txBody>
      </p:sp>
      <p:sp>
        <p:nvSpPr>
          <p:cNvPr id="22" name="TextBox 21"/>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11 / 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ROADMAP</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Devnet demo today → mainnet → every live market.</a:t>
            </a:r>
          </a:p>
        </p:txBody>
      </p:sp>
      <p:sp>
        <p:nvSpPr>
          <p:cNvPr id="5" name="Rounded Rectangle 4"/>
          <p:cNvSpPr/>
          <p:nvPr/>
        </p:nvSpPr>
        <p:spPr>
          <a:xfrm>
            <a:off x="640080" y="2057400"/>
            <a:ext cx="3429000" cy="379476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2377440"/>
            <a:ext cx="1280160" cy="411480"/>
          </a:xfrm>
          <a:prstGeom prst="roundRect">
            <a:avLst>
              <a:gd name="adj" fmla="val 35000"/>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2377440"/>
            <a:ext cx="1280160" cy="411480"/>
          </a:xfrm>
          <a:prstGeom prst="rect">
            <a:avLst/>
          </a:prstGeom>
          <a:noFill/>
        </p:spPr>
        <p:txBody>
          <a:bodyPr wrap="square" anchor="ctr" lIns="0" rIns="0" tIns="0" bIns="0">
            <a:spAutoFit/>
          </a:bodyPr>
          <a:lstStyle/>
          <a:p>
            <a:pPr algn="ctr">
              <a:lnSpc>
                <a:spcPct val="100000"/>
              </a:lnSpc>
            </a:pPr>
            <a:r>
              <a:rPr sz="1200" b="1" i="0">
                <a:solidFill>
                  <a:srgbClr val="0B0F14"/>
                </a:solidFill>
                <a:latin typeface="Arial Black"/>
              </a:rPr>
              <a:t>NOW</a:t>
            </a:r>
          </a:p>
        </p:txBody>
      </p:sp>
      <p:sp>
        <p:nvSpPr>
          <p:cNvPr id="8" name="TextBox 7"/>
          <p:cNvSpPr txBox="1"/>
          <p:nvPr/>
        </p:nvSpPr>
        <p:spPr>
          <a:xfrm>
            <a:off x="960120" y="2971800"/>
            <a:ext cx="2788920" cy="548640"/>
          </a:xfrm>
          <a:prstGeom prst="rect">
            <a:avLst/>
          </a:prstGeom>
          <a:noFill/>
        </p:spPr>
        <p:txBody>
          <a:bodyPr wrap="square" anchor="t" lIns="0" rIns="0" tIns="0" bIns="0">
            <a:spAutoFit/>
          </a:bodyPr>
          <a:lstStyle/>
          <a:p>
            <a:pPr algn="l">
              <a:lnSpc>
                <a:spcPct val="100000"/>
              </a:lnSpc>
            </a:pPr>
            <a:r>
              <a:rPr sz="1900" b="1" i="0">
                <a:solidFill>
                  <a:srgbClr val="E8EEF2"/>
                </a:solidFill>
                <a:latin typeface="Arial Black"/>
              </a:rPr>
              <a:t>Devnet demo</a:t>
            </a:r>
          </a:p>
        </p:txBody>
      </p:sp>
      <p:sp>
        <p:nvSpPr>
          <p:cNvPr id="9" name="Oval 8"/>
          <p:cNvSpPr/>
          <p:nvPr/>
        </p:nvSpPr>
        <p:spPr>
          <a:xfrm>
            <a:off x="960120" y="3721608"/>
            <a:ext cx="109728" cy="109728"/>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3657600"/>
            <a:ext cx="2560320" cy="457200"/>
          </a:xfrm>
          <a:prstGeom prst="rect">
            <a:avLst/>
          </a:prstGeom>
          <a:noFill/>
        </p:spPr>
        <p:txBody>
          <a:bodyPr wrap="square" anchor="t" lIns="0" rIns="0" tIns="0" bIns="0">
            <a:spAutoFit/>
          </a:bodyPr>
          <a:lstStyle/>
          <a:p>
            <a:pPr algn="l">
              <a:lnSpc>
                <a:spcPct val="105000"/>
              </a:lnSpc>
            </a:pPr>
            <a:r>
              <a:rPr sz="1300" b="0" i="0">
                <a:solidFill>
                  <a:srgbClr val="E8EEF2"/>
                </a:solidFill>
                <a:latin typeface="Arial"/>
              </a:rPr>
              <a:t>Live World Cup fixtures</a:t>
            </a:r>
          </a:p>
        </p:txBody>
      </p:sp>
      <p:sp>
        <p:nvSpPr>
          <p:cNvPr id="11" name="Oval 10"/>
          <p:cNvSpPr/>
          <p:nvPr/>
        </p:nvSpPr>
        <p:spPr>
          <a:xfrm>
            <a:off x="960120" y="4233672"/>
            <a:ext cx="109728" cy="109728"/>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4169664"/>
            <a:ext cx="2560320" cy="457200"/>
          </a:xfrm>
          <a:prstGeom prst="rect">
            <a:avLst/>
          </a:prstGeom>
          <a:noFill/>
        </p:spPr>
        <p:txBody>
          <a:bodyPr wrap="square" anchor="t" lIns="0" rIns="0" tIns="0" bIns="0">
            <a:spAutoFit/>
          </a:bodyPr>
          <a:lstStyle/>
          <a:p>
            <a:pPr algn="l">
              <a:lnSpc>
                <a:spcPct val="105000"/>
              </a:lnSpc>
            </a:pPr>
            <a:r>
              <a:rPr sz="1300" b="0" i="0">
                <a:solidFill>
                  <a:srgbClr val="E8EEF2"/>
                </a:solidFill>
                <a:latin typeface="Arial"/>
              </a:rPr>
              <a:t>Real SOL stakes &amp; payouts</a:t>
            </a:r>
          </a:p>
        </p:txBody>
      </p:sp>
      <p:sp>
        <p:nvSpPr>
          <p:cNvPr id="13" name="Oval 12"/>
          <p:cNvSpPr/>
          <p:nvPr/>
        </p:nvSpPr>
        <p:spPr>
          <a:xfrm>
            <a:off x="960120" y="4745736"/>
            <a:ext cx="109728" cy="109728"/>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4681728"/>
            <a:ext cx="2560320" cy="457200"/>
          </a:xfrm>
          <a:prstGeom prst="rect">
            <a:avLst/>
          </a:prstGeom>
          <a:noFill/>
        </p:spPr>
        <p:txBody>
          <a:bodyPr wrap="square" anchor="t" lIns="0" rIns="0" tIns="0" bIns="0">
            <a:spAutoFit/>
          </a:bodyPr>
          <a:lstStyle/>
          <a:p>
            <a:pPr algn="l">
              <a:lnSpc>
                <a:spcPct val="105000"/>
              </a:lnSpc>
            </a:pPr>
            <a:r>
              <a:rPr sz="1300" b="0" i="0">
                <a:solidFill>
                  <a:srgbClr val="E8EEF2"/>
                </a:solidFill>
                <a:latin typeface="Arial"/>
              </a:rPr>
              <a:t>Goal / corner / card markets</a:t>
            </a:r>
          </a:p>
        </p:txBody>
      </p:sp>
      <p:sp>
        <p:nvSpPr>
          <p:cNvPr id="15" name="Oval 14"/>
          <p:cNvSpPr/>
          <p:nvPr/>
        </p:nvSpPr>
        <p:spPr>
          <a:xfrm>
            <a:off x="960120" y="5257800"/>
            <a:ext cx="109728" cy="109728"/>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88720" y="5193792"/>
            <a:ext cx="2560320" cy="457200"/>
          </a:xfrm>
          <a:prstGeom prst="rect">
            <a:avLst/>
          </a:prstGeom>
          <a:noFill/>
        </p:spPr>
        <p:txBody>
          <a:bodyPr wrap="square" anchor="t" lIns="0" rIns="0" tIns="0" bIns="0">
            <a:spAutoFit/>
          </a:bodyPr>
          <a:lstStyle/>
          <a:p>
            <a:pPr algn="l">
              <a:lnSpc>
                <a:spcPct val="105000"/>
              </a:lnSpc>
            </a:pPr>
            <a:r>
              <a:rPr sz="1300" b="0" i="0">
                <a:solidFill>
                  <a:srgbClr val="E8EEF2"/>
                </a:solidFill>
                <a:latin typeface="Arial"/>
              </a:rPr>
              <a:t>Settlement worker + on-chain proof</a:t>
            </a:r>
          </a:p>
        </p:txBody>
      </p:sp>
      <p:sp>
        <p:nvSpPr>
          <p:cNvPr id="17" name="Rounded Rectangle 16"/>
          <p:cNvSpPr/>
          <p:nvPr/>
        </p:nvSpPr>
        <p:spPr>
          <a:xfrm>
            <a:off x="4453128" y="2057400"/>
            <a:ext cx="3429000" cy="379476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773168" y="2377440"/>
            <a:ext cx="1280160" cy="411480"/>
          </a:xfrm>
          <a:prstGeom prst="roundRect">
            <a:avLst>
              <a:gd name="adj" fmla="val 35000"/>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73168" y="2377440"/>
            <a:ext cx="1280160" cy="411480"/>
          </a:xfrm>
          <a:prstGeom prst="rect">
            <a:avLst/>
          </a:prstGeom>
          <a:noFill/>
        </p:spPr>
        <p:txBody>
          <a:bodyPr wrap="square" anchor="ctr" lIns="0" rIns="0" tIns="0" bIns="0">
            <a:spAutoFit/>
          </a:bodyPr>
          <a:lstStyle/>
          <a:p>
            <a:pPr algn="ctr">
              <a:lnSpc>
                <a:spcPct val="100000"/>
              </a:lnSpc>
            </a:pPr>
            <a:r>
              <a:rPr sz="1200" b="1" i="0">
                <a:solidFill>
                  <a:srgbClr val="0B0F14"/>
                </a:solidFill>
                <a:latin typeface="Arial Black"/>
              </a:rPr>
              <a:t>NEXT</a:t>
            </a:r>
          </a:p>
        </p:txBody>
      </p:sp>
      <p:sp>
        <p:nvSpPr>
          <p:cNvPr id="20" name="TextBox 19"/>
          <p:cNvSpPr txBox="1"/>
          <p:nvPr/>
        </p:nvSpPr>
        <p:spPr>
          <a:xfrm>
            <a:off x="4773168" y="2971800"/>
            <a:ext cx="2788920" cy="548640"/>
          </a:xfrm>
          <a:prstGeom prst="rect">
            <a:avLst/>
          </a:prstGeom>
          <a:noFill/>
        </p:spPr>
        <p:txBody>
          <a:bodyPr wrap="square" anchor="t" lIns="0" rIns="0" tIns="0" bIns="0">
            <a:spAutoFit/>
          </a:bodyPr>
          <a:lstStyle/>
          <a:p>
            <a:pPr algn="l">
              <a:lnSpc>
                <a:spcPct val="100000"/>
              </a:lnSpc>
            </a:pPr>
            <a:r>
              <a:rPr sz="1900" b="1" i="0">
                <a:solidFill>
                  <a:srgbClr val="E8EEF2"/>
                </a:solidFill>
                <a:latin typeface="Arial Black"/>
              </a:rPr>
              <a:t>Mainnet &amp; polish</a:t>
            </a:r>
          </a:p>
        </p:txBody>
      </p:sp>
      <p:sp>
        <p:nvSpPr>
          <p:cNvPr id="21" name="Oval 20"/>
          <p:cNvSpPr/>
          <p:nvPr/>
        </p:nvSpPr>
        <p:spPr>
          <a:xfrm>
            <a:off x="4773168" y="3721608"/>
            <a:ext cx="109728" cy="109728"/>
          </a:xfrm>
          <a:prstGeom prst="ellipse">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1768" y="3657600"/>
            <a:ext cx="2560320" cy="457200"/>
          </a:xfrm>
          <a:prstGeom prst="rect">
            <a:avLst/>
          </a:prstGeom>
          <a:noFill/>
        </p:spPr>
        <p:txBody>
          <a:bodyPr wrap="square" anchor="t" lIns="0" rIns="0" tIns="0" bIns="0">
            <a:spAutoFit/>
          </a:bodyPr>
          <a:lstStyle/>
          <a:p>
            <a:pPr algn="l">
              <a:lnSpc>
                <a:spcPct val="105000"/>
              </a:lnSpc>
            </a:pPr>
            <a:r>
              <a:rPr sz="1300" b="0" i="0">
                <a:solidFill>
                  <a:srgbClr val="E8EEF2"/>
                </a:solidFill>
                <a:latin typeface="Arial"/>
              </a:rPr>
              <a:t>Mainnet-beta with USDC option</a:t>
            </a:r>
          </a:p>
        </p:txBody>
      </p:sp>
      <p:sp>
        <p:nvSpPr>
          <p:cNvPr id="23" name="Oval 22"/>
          <p:cNvSpPr/>
          <p:nvPr/>
        </p:nvSpPr>
        <p:spPr>
          <a:xfrm>
            <a:off x="4773168" y="4233672"/>
            <a:ext cx="109728" cy="109728"/>
          </a:xfrm>
          <a:prstGeom prst="ellipse">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1768" y="4169664"/>
            <a:ext cx="2560320" cy="457200"/>
          </a:xfrm>
          <a:prstGeom prst="rect">
            <a:avLst/>
          </a:prstGeom>
          <a:noFill/>
        </p:spPr>
        <p:txBody>
          <a:bodyPr wrap="square" anchor="t" lIns="0" rIns="0" tIns="0" bIns="0">
            <a:spAutoFit/>
          </a:bodyPr>
          <a:lstStyle/>
          <a:p>
            <a:pPr algn="l">
              <a:lnSpc>
                <a:spcPct val="105000"/>
              </a:lnSpc>
            </a:pPr>
            <a:r>
              <a:rPr sz="1300" b="0" i="0">
                <a:solidFill>
                  <a:srgbClr val="E8EEF2"/>
                </a:solidFill>
                <a:latin typeface="Arial"/>
              </a:rPr>
              <a:t>More markets per match</a:t>
            </a:r>
          </a:p>
        </p:txBody>
      </p:sp>
      <p:sp>
        <p:nvSpPr>
          <p:cNvPr id="25" name="Oval 24"/>
          <p:cNvSpPr/>
          <p:nvPr/>
        </p:nvSpPr>
        <p:spPr>
          <a:xfrm>
            <a:off x="4773168" y="4745736"/>
            <a:ext cx="109728" cy="109728"/>
          </a:xfrm>
          <a:prstGeom prst="ellipse">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01768" y="4681728"/>
            <a:ext cx="2560320" cy="457200"/>
          </a:xfrm>
          <a:prstGeom prst="rect">
            <a:avLst/>
          </a:prstGeom>
          <a:noFill/>
        </p:spPr>
        <p:txBody>
          <a:bodyPr wrap="square" anchor="t" lIns="0" rIns="0" tIns="0" bIns="0">
            <a:spAutoFit/>
          </a:bodyPr>
          <a:lstStyle/>
          <a:p>
            <a:pPr algn="l">
              <a:lnSpc>
                <a:spcPct val="105000"/>
              </a:lnSpc>
            </a:pPr>
            <a:r>
              <a:rPr sz="1300" b="0" i="0">
                <a:solidFill>
                  <a:srgbClr val="E8EEF2"/>
                </a:solidFill>
                <a:latin typeface="Arial"/>
              </a:rPr>
              <a:t>Odds/multipliers tuning</a:t>
            </a:r>
          </a:p>
        </p:txBody>
      </p:sp>
      <p:sp>
        <p:nvSpPr>
          <p:cNvPr id="27" name="Oval 26"/>
          <p:cNvSpPr/>
          <p:nvPr/>
        </p:nvSpPr>
        <p:spPr>
          <a:xfrm>
            <a:off x="4773168" y="5257800"/>
            <a:ext cx="109728" cy="109728"/>
          </a:xfrm>
          <a:prstGeom prst="ellipse">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01768" y="5193792"/>
            <a:ext cx="2560320" cy="457200"/>
          </a:xfrm>
          <a:prstGeom prst="rect">
            <a:avLst/>
          </a:prstGeom>
          <a:noFill/>
        </p:spPr>
        <p:txBody>
          <a:bodyPr wrap="square" anchor="t" lIns="0" rIns="0" tIns="0" bIns="0">
            <a:spAutoFit/>
          </a:bodyPr>
          <a:lstStyle/>
          <a:p>
            <a:pPr algn="l">
              <a:lnSpc>
                <a:spcPct val="105000"/>
              </a:lnSpc>
            </a:pPr>
            <a:r>
              <a:rPr sz="1300" b="0" i="0">
                <a:solidFill>
                  <a:srgbClr val="E8EEF2"/>
                </a:solidFill>
                <a:latin typeface="Arial"/>
              </a:rPr>
              <a:t>Wallet UX + onboarding</a:t>
            </a:r>
          </a:p>
        </p:txBody>
      </p:sp>
      <p:sp>
        <p:nvSpPr>
          <p:cNvPr id="29" name="Rounded Rectangle 28"/>
          <p:cNvSpPr/>
          <p:nvPr/>
        </p:nvSpPr>
        <p:spPr>
          <a:xfrm>
            <a:off x="8266176" y="2057400"/>
            <a:ext cx="3429000" cy="379476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586216" y="2377440"/>
            <a:ext cx="1280160" cy="411480"/>
          </a:xfrm>
          <a:prstGeom prst="roundRect">
            <a:avLst>
              <a:gd name="adj" fmla="val 35000"/>
            </a:avLst>
          </a:prstGeom>
          <a:solidFill>
            <a:srgbClr val="8C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586216" y="2377440"/>
            <a:ext cx="1280160" cy="411480"/>
          </a:xfrm>
          <a:prstGeom prst="rect">
            <a:avLst/>
          </a:prstGeom>
          <a:noFill/>
        </p:spPr>
        <p:txBody>
          <a:bodyPr wrap="square" anchor="ctr" lIns="0" rIns="0" tIns="0" bIns="0">
            <a:spAutoFit/>
          </a:bodyPr>
          <a:lstStyle/>
          <a:p>
            <a:pPr algn="ctr">
              <a:lnSpc>
                <a:spcPct val="100000"/>
              </a:lnSpc>
            </a:pPr>
            <a:r>
              <a:rPr sz="1200" b="1" i="0">
                <a:solidFill>
                  <a:srgbClr val="0B0F14"/>
                </a:solidFill>
                <a:latin typeface="Arial Black"/>
              </a:rPr>
              <a:t>LATER</a:t>
            </a:r>
          </a:p>
        </p:txBody>
      </p:sp>
      <p:sp>
        <p:nvSpPr>
          <p:cNvPr id="32" name="TextBox 31"/>
          <p:cNvSpPr txBox="1"/>
          <p:nvPr/>
        </p:nvSpPr>
        <p:spPr>
          <a:xfrm>
            <a:off x="8586216" y="2971800"/>
            <a:ext cx="2788920" cy="548640"/>
          </a:xfrm>
          <a:prstGeom prst="rect">
            <a:avLst/>
          </a:prstGeom>
          <a:noFill/>
        </p:spPr>
        <p:txBody>
          <a:bodyPr wrap="square" anchor="t" lIns="0" rIns="0" tIns="0" bIns="0">
            <a:spAutoFit/>
          </a:bodyPr>
          <a:lstStyle/>
          <a:p>
            <a:pPr algn="l">
              <a:lnSpc>
                <a:spcPct val="100000"/>
              </a:lnSpc>
            </a:pPr>
            <a:r>
              <a:rPr sz="1900" b="1" i="0">
                <a:solidFill>
                  <a:srgbClr val="E8EEF2"/>
                </a:solidFill>
                <a:latin typeface="Arial Black"/>
              </a:rPr>
              <a:t>Multi-sport platform</a:t>
            </a:r>
          </a:p>
        </p:txBody>
      </p:sp>
      <p:sp>
        <p:nvSpPr>
          <p:cNvPr id="33" name="Oval 32"/>
          <p:cNvSpPr/>
          <p:nvPr/>
        </p:nvSpPr>
        <p:spPr>
          <a:xfrm>
            <a:off x="8586216" y="3721608"/>
            <a:ext cx="109728" cy="109728"/>
          </a:xfrm>
          <a:prstGeom prst="ellipse">
            <a:avLst/>
          </a:prstGeom>
          <a:solidFill>
            <a:srgbClr val="8C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14816" y="3657600"/>
            <a:ext cx="2560320" cy="457200"/>
          </a:xfrm>
          <a:prstGeom prst="rect">
            <a:avLst/>
          </a:prstGeom>
          <a:noFill/>
        </p:spPr>
        <p:txBody>
          <a:bodyPr wrap="square" anchor="t" lIns="0" rIns="0" tIns="0" bIns="0">
            <a:spAutoFit/>
          </a:bodyPr>
          <a:lstStyle/>
          <a:p>
            <a:pPr algn="l">
              <a:lnSpc>
                <a:spcPct val="105000"/>
              </a:lnSpc>
            </a:pPr>
            <a:r>
              <a:rPr sz="1300" b="0" i="0">
                <a:solidFill>
                  <a:srgbClr val="8CA0A8"/>
                </a:solidFill>
                <a:latin typeface="Arial"/>
              </a:rPr>
              <a:t>More sports via new feeds</a:t>
            </a:r>
          </a:p>
        </p:txBody>
      </p:sp>
      <p:sp>
        <p:nvSpPr>
          <p:cNvPr id="35" name="Oval 34"/>
          <p:cNvSpPr/>
          <p:nvPr/>
        </p:nvSpPr>
        <p:spPr>
          <a:xfrm>
            <a:off x="8586216" y="4233672"/>
            <a:ext cx="109728" cy="109728"/>
          </a:xfrm>
          <a:prstGeom prst="ellipse">
            <a:avLst/>
          </a:prstGeom>
          <a:solidFill>
            <a:srgbClr val="8C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14816" y="4169664"/>
            <a:ext cx="2560320" cy="457200"/>
          </a:xfrm>
          <a:prstGeom prst="rect">
            <a:avLst/>
          </a:prstGeom>
          <a:noFill/>
        </p:spPr>
        <p:txBody>
          <a:bodyPr wrap="square" anchor="t" lIns="0" rIns="0" tIns="0" bIns="0">
            <a:spAutoFit/>
          </a:bodyPr>
          <a:lstStyle/>
          <a:p>
            <a:pPr algn="l">
              <a:lnSpc>
                <a:spcPct val="105000"/>
              </a:lnSpc>
            </a:pPr>
            <a:r>
              <a:rPr sz="1300" b="0" i="0">
                <a:solidFill>
                  <a:srgbClr val="8CA0A8"/>
                </a:solidFill>
                <a:latin typeface="Arial"/>
              </a:rPr>
              <a:t>Social &amp; leaderboards</a:t>
            </a:r>
          </a:p>
        </p:txBody>
      </p:sp>
      <p:sp>
        <p:nvSpPr>
          <p:cNvPr id="37" name="Oval 36"/>
          <p:cNvSpPr/>
          <p:nvPr/>
        </p:nvSpPr>
        <p:spPr>
          <a:xfrm>
            <a:off x="8586216" y="4745736"/>
            <a:ext cx="109728" cy="109728"/>
          </a:xfrm>
          <a:prstGeom prst="ellipse">
            <a:avLst/>
          </a:prstGeom>
          <a:solidFill>
            <a:srgbClr val="8C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814816" y="4681728"/>
            <a:ext cx="2560320" cy="457200"/>
          </a:xfrm>
          <a:prstGeom prst="rect">
            <a:avLst/>
          </a:prstGeom>
          <a:noFill/>
        </p:spPr>
        <p:txBody>
          <a:bodyPr wrap="square" anchor="t" lIns="0" rIns="0" tIns="0" bIns="0">
            <a:spAutoFit/>
          </a:bodyPr>
          <a:lstStyle/>
          <a:p>
            <a:pPr algn="l">
              <a:lnSpc>
                <a:spcPct val="105000"/>
              </a:lnSpc>
            </a:pPr>
            <a:r>
              <a:rPr sz="1300" b="0" i="0">
                <a:solidFill>
                  <a:srgbClr val="8CA0A8"/>
                </a:solidFill>
                <a:latin typeface="Arial"/>
              </a:rPr>
              <a:t>Creator-defined markets</a:t>
            </a:r>
          </a:p>
        </p:txBody>
      </p:sp>
      <p:sp>
        <p:nvSpPr>
          <p:cNvPr id="39" name="Oval 38"/>
          <p:cNvSpPr/>
          <p:nvPr/>
        </p:nvSpPr>
        <p:spPr>
          <a:xfrm>
            <a:off x="8586216" y="5257800"/>
            <a:ext cx="109728" cy="109728"/>
          </a:xfrm>
          <a:prstGeom prst="ellipse">
            <a:avLst/>
          </a:prstGeom>
          <a:solidFill>
            <a:srgbClr val="8CA0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14816" y="5193792"/>
            <a:ext cx="2560320" cy="457200"/>
          </a:xfrm>
          <a:prstGeom prst="rect">
            <a:avLst/>
          </a:prstGeom>
          <a:noFill/>
        </p:spPr>
        <p:txBody>
          <a:bodyPr wrap="square" anchor="t" lIns="0" rIns="0" tIns="0" bIns="0">
            <a:spAutoFit/>
          </a:bodyPr>
          <a:lstStyle/>
          <a:p>
            <a:pPr algn="l">
              <a:lnSpc>
                <a:spcPct val="105000"/>
              </a:lnSpc>
            </a:pPr>
            <a:r>
              <a:rPr sz="1300" b="0" i="0">
                <a:solidFill>
                  <a:srgbClr val="8CA0A8"/>
                </a:solidFill>
                <a:latin typeface="Arial"/>
              </a:rPr>
              <a:t>Liquidity &amp; risk engine</a:t>
            </a:r>
          </a:p>
        </p:txBody>
      </p:sp>
      <p:sp>
        <p:nvSpPr>
          <p:cNvPr id="41" name="TextBox 40"/>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Called It  ·  FIFA World Cup 2026  ·  Solana</a:t>
            </a:r>
          </a:p>
        </p:txBody>
      </p:sp>
      <p:sp>
        <p:nvSpPr>
          <p:cNvPr id="42" name="TextBox 41"/>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12 / 16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VIABILITY</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Legally aware, technically proven, operationally lean.</a:t>
            </a:r>
          </a:p>
        </p:txBody>
      </p:sp>
      <p:sp>
        <p:nvSpPr>
          <p:cNvPr id="5" name="Rounded Rectangle 4"/>
          <p:cNvSpPr/>
          <p:nvPr/>
        </p:nvSpPr>
        <p:spPr>
          <a:xfrm>
            <a:off x="640080" y="1965960"/>
            <a:ext cx="3429000" cy="384048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240280"/>
            <a:ext cx="731520" cy="548640"/>
          </a:xfrm>
          <a:prstGeom prst="rect">
            <a:avLst/>
          </a:prstGeom>
          <a:noFill/>
        </p:spPr>
        <p:txBody>
          <a:bodyPr wrap="square" anchor="t" lIns="0" rIns="0" tIns="0" bIns="0">
            <a:spAutoFit/>
          </a:bodyPr>
          <a:lstStyle/>
          <a:p>
            <a:pPr algn="l">
              <a:lnSpc>
                <a:spcPct val="100000"/>
              </a:lnSpc>
            </a:pPr>
            <a:r>
              <a:rPr sz="2600" b="0" i="0">
                <a:solidFill>
                  <a:srgbClr val="B6FF3C"/>
                </a:solidFill>
                <a:latin typeface="Arial"/>
              </a:rPr>
              <a:t>⚖️</a:t>
            </a:r>
          </a:p>
        </p:txBody>
      </p:sp>
      <p:sp>
        <p:nvSpPr>
          <p:cNvPr id="7" name="TextBox 6"/>
          <p:cNvSpPr txBox="1"/>
          <p:nvPr/>
        </p:nvSpPr>
        <p:spPr>
          <a:xfrm>
            <a:off x="1645920" y="2313432"/>
            <a:ext cx="2240280" cy="457200"/>
          </a:xfrm>
          <a:prstGeom prst="rect">
            <a:avLst/>
          </a:prstGeom>
          <a:noFill/>
        </p:spPr>
        <p:txBody>
          <a:bodyPr wrap="square" anchor="t" lIns="0" rIns="0" tIns="0" bIns="0">
            <a:spAutoFit/>
          </a:bodyPr>
          <a:lstStyle/>
          <a:p>
            <a:pPr algn="l">
              <a:lnSpc>
                <a:spcPct val="100000"/>
              </a:lnSpc>
            </a:pPr>
            <a:r>
              <a:rPr sz="1900" b="1" i="0">
                <a:solidFill>
                  <a:srgbClr val="B6FF3C"/>
                </a:solidFill>
                <a:latin typeface="Arial Black"/>
              </a:rPr>
              <a:t>Legal</a:t>
            </a:r>
          </a:p>
        </p:txBody>
      </p:sp>
      <p:sp>
        <p:nvSpPr>
          <p:cNvPr id="8" name="Oval 7"/>
          <p:cNvSpPr/>
          <p:nvPr/>
        </p:nvSpPr>
        <p:spPr>
          <a:xfrm>
            <a:off x="960120" y="3118104"/>
            <a:ext cx="109728" cy="109728"/>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063240"/>
            <a:ext cx="2606040" cy="822960"/>
          </a:xfrm>
          <a:prstGeom prst="rect">
            <a:avLst/>
          </a:prstGeom>
          <a:noFill/>
        </p:spPr>
        <p:txBody>
          <a:bodyPr wrap="square" anchor="t" lIns="0" rIns="0" tIns="0" bIns="0">
            <a:spAutoFit/>
          </a:bodyPr>
          <a:lstStyle/>
          <a:p>
            <a:pPr algn="l">
              <a:lnSpc>
                <a:spcPct val="115000"/>
              </a:lnSpc>
            </a:pPr>
            <a:r>
              <a:rPr sz="1250" b="0" i="0">
                <a:solidFill>
                  <a:srgbClr val="8CA0A8"/>
                </a:solidFill>
                <a:latin typeface="Arial"/>
              </a:rPr>
              <a:t>Framed as a skill-based, free-to-play game on devnet — no real-money gambling.</a:t>
            </a:r>
          </a:p>
        </p:txBody>
      </p:sp>
      <p:sp>
        <p:nvSpPr>
          <p:cNvPr id="10" name="Oval 9"/>
          <p:cNvSpPr/>
          <p:nvPr/>
        </p:nvSpPr>
        <p:spPr>
          <a:xfrm>
            <a:off x="960120" y="3986784"/>
            <a:ext cx="109728" cy="109728"/>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88720" y="3931920"/>
            <a:ext cx="2606040" cy="822960"/>
          </a:xfrm>
          <a:prstGeom prst="rect">
            <a:avLst/>
          </a:prstGeom>
          <a:noFill/>
        </p:spPr>
        <p:txBody>
          <a:bodyPr wrap="square" anchor="t" lIns="0" rIns="0" tIns="0" bIns="0">
            <a:spAutoFit/>
          </a:bodyPr>
          <a:lstStyle/>
          <a:p>
            <a:pPr algn="l">
              <a:lnSpc>
                <a:spcPct val="115000"/>
              </a:lnSpc>
            </a:pPr>
            <a:r>
              <a:rPr sz="1250" b="0" i="0">
                <a:solidFill>
                  <a:srgbClr val="8CA0A8"/>
                </a:solidFill>
                <a:latin typeface="Arial"/>
              </a:rPr>
              <a:t>On-chain settlement is transparent and auditable by design.</a:t>
            </a:r>
          </a:p>
        </p:txBody>
      </p:sp>
      <p:sp>
        <p:nvSpPr>
          <p:cNvPr id="12" name="Oval 11"/>
          <p:cNvSpPr/>
          <p:nvPr/>
        </p:nvSpPr>
        <p:spPr>
          <a:xfrm>
            <a:off x="960120" y="4855464"/>
            <a:ext cx="109728" cy="109728"/>
          </a:xfrm>
          <a:prstGeom prst="ellipse">
            <a:avLst/>
          </a:prstGeom>
          <a:solidFill>
            <a:srgbClr val="B6FF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88720" y="4800600"/>
            <a:ext cx="2606040" cy="822960"/>
          </a:xfrm>
          <a:prstGeom prst="rect">
            <a:avLst/>
          </a:prstGeom>
          <a:noFill/>
        </p:spPr>
        <p:txBody>
          <a:bodyPr wrap="square" anchor="t" lIns="0" rIns="0" tIns="0" bIns="0">
            <a:spAutoFit/>
          </a:bodyPr>
          <a:lstStyle/>
          <a:p>
            <a:pPr algn="l">
              <a:lnSpc>
                <a:spcPct val="115000"/>
              </a:lnSpc>
            </a:pPr>
            <a:r>
              <a:rPr sz="1250" b="0" i="0">
                <a:solidFill>
                  <a:srgbClr val="8CA0A8"/>
                </a:solidFill>
                <a:latin typeface="Arial"/>
              </a:rPr>
              <a:t>Jurisdiction-aware rollout planned before any mainnet real-money launch.</a:t>
            </a:r>
          </a:p>
        </p:txBody>
      </p:sp>
      <p:sp>
        <p:nvSpPr>
          <p:cNvPr id="14" name="Rounded Rectangle 13"/>
          <p:cNvSpPr/>
          <p:nvPr/>
        </p:nvSpPr>
        <p:spPr>
          <a:xfrm>
            <a:off x="4453128" y="1965960"/>
            <a:ext cx="3429000" cy="384048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2240280"/>
            <a:ext cx="731520" cy="548640"/>
          </a:xfrm>
          <a:prstGeom prst="rect">
            <a:avLst/>
          </a:prstGeom>
          <a:noFill/>
        </p:spPr>
        <p:txBody>
          <a:bodyPr wrap="square" anchor="t" lIns="0" rIns="0" tIns="0" bIns="0">
            <a:spAutoFit/>
          </a:bodyPr>
          <a:lstStyle/>
          <a:p>
            <a:pPr algn="l">
              <a:lnSpc>
                <a:spcPct val="100000"/>
              </a:lnSpc>
            </a:pPr>
            <a:r>
              <a:rPr sz="2600" b="0" i="0">
                <a:solidFill>
                  <a:srgbClr val="FF7A18"/>
                </a:solidFill>
                <a:latin typeface="Arial"/>
              </a:rPr>
              <a:t>🧩</a:t>
            </a:r>
          </a:p>
        </p:txBody>
      </p:sp>
      <p:sp>
        <p:nvSpPr>
          <p:cNvPr id="16" name="TextBox 15"/>
          <p:cNvSpPr txBox="1"/>
          <p:nvPr/>
        </p:nvSpPr>
        <p:spPr>
          <a:xfrm>
            <a:off x="5458968" y="2313432"/>
            <a:ext cx="2240280" cy="457200"/>
          </a:xfrm>
          <a:prstGeom prst="rect">
            <a:avLst/>
          </a:prstGeom>
          <a:noFill/>
        </p:spPr>
        <p:txBody>
          <a:bodyPr wrap="square" anchor="t" lIns="0" rIns="0" tIns="0" bIns="0">
            <a:spAutoFit/>
          </a:bodyPr>
          <a:lstStyle/>
          <a:p>
            <a:pPr algn="l">
              <a:lnSpc>
                <a:spcPct val="100000"/>
              </a:lnSpc>
            </a:pPr>
            <a:r>
              <a:rPr sz="1900" b="1" i="0">
                <a:solidFill>
                  <a:srgbClr val="FF7A18"/>
                </a:solidFill>
                <a:latin typeface="Arial Black"/>
              </a:rPr>
              <a:t>Technical</a:t>
            </a:r>
          </a:p>
        </p:txBody>
      </p:sp>
      <p:sp>
        <p:nvSpPr>
          <p:cNvPr id="17" name="Oval 16"/>
          <p:cNvSpPr/>
          <p:nvPr/>
        </p:nvSpPr>
        <p:spPr>
          <a:xfrm>
            <a:off x="4773168" y="3118104"/>
            <a:ext cx="109728" cy="109728"/>
          </a:xfrm>
          <a:prstGeom prst="ellipse">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1768" y="3063240"/>
            <a:ext cx="2606040" cy="822960"/>
          </a:xfrm>
          <a:prstGeom prst="rect">
            <a:avLst/>
          </a:prstGeom>
          <a:noFill/>
        </p:spPr>
        <p:txBody>
          <a:bodyPr wrap="square" anchor="t" lIns="0" rIns="0" tIns="0" bIns="0">
            <a:spAutoFit/>
          </a:bodyPr>
          <a:lstStyle/>
          <a:p>
            <a:pPr algn="l">
              <a:lnSpc>
                <a:spcPct val="115000"/>
              </a:lnSpc>
            </a:pPr>
            <a:r>
              <a:rPr sz="1250" b="0" i="0">
                <a:solidFill>
                  <a:srgbClr val="8CA0A8"/>
                </a:solidFill>
                <a:latin typeface="Arial"/>
              </a:rPr>
              <a:t>Full loop already runs end-to-end: stake → verify → stamp → settle → pay.</a:t>
            </a:r>
          </a:p>
        </p:txBody>
      </p:sp>
      <p:sp>
        <p:nvSpPr>
          <p:cNvPr id="19" name="Oval 18"/>
          <p:cNvSpPr/>
          <p:nvPr/>
        </p:nvSpPr>
        <p:spPr>
          <a:xfrm>
            <a:off x="4773168" y="3986784"/>
            <a:ext cx="109728" cy="109728"/>
          </a:xfrm>
          <a:prstGeom prst="ellipse">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1768" y="3931920"/>
            <a:ext cx="2606040" cy="822960"/>
          </a:xfrm>
          <a:prstGeom prst="rect">
            <a:avLst/>
          </a:prstGeom>
          <a:noFill/>
        </p:spPr>
        <p:txBody>
          <a:bodyPr wrap="square" anchor="t" lIns="0" rIns="0" tIns="0" bIns="0">
            <a:spAutoFit/>
          </a:bodyPr>
          <a:lstStyle/>
          <a:p>
            <a:pPr algn="l">
              <a:lnSpc>
                <a:spcPct val="115000"/>
              </a:lnSpc>
            </a:pPr>
            <a:r>
              <a:rPr sz="1250" b="0" i="0">
                <a:solidFill>
                  <a:srgbClr val="8CA0A8"/>
                </a:solidFill>
                <a:latin typeface="Arial"/>
              </a:rPr>
              <a:t>Feed-driven, generic settlement — new markets/sports without a rewrite.</a:t>
            </a:r>
          </a:p>
        </p:txBody>
      </p:sp>
      <p:sp>
        <p:nvSpPr>
          <p:cNvPr id="21" name="Oval 20"/>
          <p:cNvSpPr/>
          <p:nvPr/>
        </p:nvSpPr>
        <p:spPr>
          <a:xfrm>
            <a:off x="4773168" y="4855464"/>
            <a:ext cx="109728" cy="109728"/>
          </a:xfrm>
          <a:prstGeom prst="ellipse">
            <a:avLst/>
          </a:prstGeom>
          <a:solidFill>
            <a:srgbClr val="FF7A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1768" y="4800600"/>
            <a:ext cx="2606040" cy="822960"/>
          </a:xfrm>
          <a:prstGeom prst="rect">
            <a:avLst/>
          </a:prstGeom>
          <a:noFill/>
        </p:spPr>
        <p:txBody>
          <a:bodyPr wrap="square" anchor="t" lIns="0" rIns="0" tIns="0" bIns="0">
            <a:spAutoFit/>
          </a:bodyPr>
          <a:lstStyle/>
          <a:p>
            <a:pPr algn="l">
              <a:lnSpc>
                <a:spcPct val="115000"/>
              </a:lnSpc>
            </a:pPr>
            <a:r>
              <a:rPr sz="1250" b="0" i="0">
                <a:solidFill>
                  <a:srgbClr val="8CA0A8"/>
                </a:solidFill>
                <a:latin typeface="Arial"/>
              </a:rPr>
              <a:t>Standard, well-supported stack: Solana, Fastify, Postgres, React.</a:t>
            </a:r>
          </a:p>
        </p:txBody>
      </p:sp>
      <p:sp>
        <p:nvSpPr>
          <p:cNvPr id="23" name="Rounded Rectangle 22"/>
          <p:cNvSpPr/>
          <p:nvPr/>
        </p:nvSpPr>
        <p:spPr>
          <a:xfrm>
            <a:off x="8266176" y="1965960"/>
            <a:ext cx="3429000" cy="3840480"/>
          </a:xfrm>
          <a:prstGeom prst="roundRect">
            <a:avLst>
              <a:gd name="adj" fmla="val 6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86216" y="2240280"/>
            <a:ext cx="731520" cy="548640"/>
          </a:xfrm>
          <a:prstGeom prst="rect">
            <a:avLst/>
          </a:prstGeom>
          <a:noFill/>
        </p:spPr>
        <p:txBody>
          <a:bodyPr wrap="square" anchor="t" lIns="0" rIns="0" tIns="0" bIns="0">
            <a:spAutoFit/>
          </a:bodyPr>
          <a:lstStyle/>
          <a:p>
            <a:pPr algn="l">
              <a:lnSpc>
                <a:spcPct val="100000"/>
              </a:lnSpc>
            </a:pPr>
            <a:r>
              <a:rPr sz="2600" b="0" i="0">
                <a:solidFill>
                  <a:srgbClr val="E8EEF2"/>
                </a:solidFill>
                <a:latin typeface="Arial"/>
              </a:rPr>
              <a:t>⚙️</a:t>
            </a:r>
          </a:p>
        </p:txBody>
      </p:sp>
      <p:sp>
        <p:nvSpPr>
          <p:cNvPr id="25" name="TextBox 24"/>
          <p:cNvSpPr txBox="1"/>
          <p:nvPr/>
        </p:nvSpPr>
        <p:spPr>
          <a:xfrm>
            <a:off x="9272016" y="2313432"/>
            <a:ext cx="2240280" cy="457200"/>
          </a:xfrm>
          <a:prstGeom prst="rect">
            <a:avLst/>
          </a:prstGeom>
          <a:noFill/>
        </p:spPr>
        <p:txBody>
          <a:bodyPr wrap="square" anchor="t" lIns="0" rIns="0" tIns="0" bIns="0">
            <a:spAutoFit/>
          </a:bodyPr>
          <a:lstStyle/>
          <a:p>
            <a:pPr algn="l">
              <a:lnSpc>
                <a:spcPct val="100000"/>
              </a:lnSpc>
            </a:pPr>
            <a:r>
              <a:rPr sz="1900" b="1" i="0">
                <a:solidFill>
                  <a:srgbClr val="E8EEF2"/>
                </a:solidFill>
                <a:latin typeface="Arial Black"/>
              </a:rPr>
              <a:t>Operational</a:t>
            </a:r>
          </a:p>
        </p:txBody>
      </p:sp>
      <p:sp>
        <p:nvSpPr>
          <p:cNvPr id="26" name="Oval 25"/>
          <p:cNvSpPr/>
          <p:nvPr/>
        </p:nvSpPr>
        <p:spPr>
          <a:xfrm>
            <a:off x="8586216" y="3118104"/>
            <a:ext cx="109728" cy="109728"/>
          </a:xfrm>
          <a:prstGeom prst="ellipse">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14816" y="3063240"/>
            <a:ext cx="2606040" cy="822960"/>
          </a:xfrm>
          <a:prstGeom prst="rect">
            <a:avLst/>
          </a:prstGeom>
          <a:noFill/>
        </p:spPr>
        <p:txBody>
          <a:bodyPr wrap="square" anchor="t" lIns="0" rIns="0" tIns="0" bIns="0">
            <a:spAutoFit/>
          </a:bodyPr>
          <a:lstStyle/>
          <a:p>
            <a:pPr algn="l">
              <a:lnSpc>
                <a:spcPct val="115000"/>
              </a:lnSpc>
            </a:pPr>
            <a:r>
              <a:rPr sz="1250" b="0" i="0">
                <a:solidFill>
                  <a:srgbClr val="8CA0A8"/>
                </a:solidFill>
                <a:latin typeface="Arial"/>
              </a:rPr>
              <a:t>Serverless-friendly deploy on Railway; worker loop is cheap to run.</a:t>
            </a:r>
          </a:p>
        </p:txBody>
      </p:sp>
      <p:sp>
        <p:nvSpPr>
          <p:cNvPr id="28" name="Oval 27"/>
          <p:cNvSpPr/>
          <p:nvPr/>
        </p:nvSpPr>
        <p:spPr>
          <a:xfrm>
            <a:off x="8586216" y="3986784"/>
            <a:ext cx="109728" cy="109728"/>
          </a:xfrm>
          <a:prstGeom prst="ellipse">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814816" y="3931920"/>
            <a:ext cx="2606040" cy="822960"/>
          </a:xfrm>
          <a:prstGeom prst="rect">
            <a:avLst/>
          </a:prstGeom>
          <a:noFill/>
        </p:spPr>
        <p:txBody>
          <a:bodyPr wrap="square" anchor="t" lIns="0" rIns="0" tIns="0" bIns="0">
            <a:spAutoFit/>
          </a:bodyPr>
          <a:lstStyle/>
          <a:p>
            <a:pPr algn="l">
              <a:lnSpc>
                <a:spcPct val="115000"/>
              </a:lnSpc>
            </a:pPr>
            <a:r>
              <a:rPr sz="1250" b="0" i="0">
                <a:solidFill>
                  <a:srgbClr val="8CA0A8"/>
                </a:solidFill>
                <a:latin typeface="Arial"/>
              </a:rPr>
              <a:t>No house float or per-market banking — on-chain rails carry the money.</a:t>
            </a:r>
          </a:p>
        </p:txBody>
      </p:sp>
      <p:sp>
        <p:nvSpPr>
          <p:cNvPr id="30" name="Oval 29"/>
          <p:cNvSpPr/>
          <p:nvPr/>
        </p:nvSpPr>
        <p:spPr>
          <a:xfrm>
            <a:off x="8586216" y="4855464"/>
            <a:ext cx="109728" cy="109728"/>
          </a:xfrm>
          <a:prstGeom prst="ellipse">
            <a:avLst/>
          </a:prstGeom>
          <a:solidFill>
            <a:srgbClr val="E8EE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14816" y="4800600"/>
            <a:ext cx="2606040" cy="822960"/>
          </a:xfrm>
          <a:prstGeom prst="rect">
            <a:avLst/>
          </a:prstGeom>
          <a:noFill/>
        </p:spPr>
        <p:txBody>
          <a:bodyPr wrap="square" anchor="t" lIns="0" rIns="0" tIns="0" bIns="0">
            <a:spAutoFit/>
          </a:bodyPr>
          <a:lstStyle/>
          <a:p>
            <a:pPr algn="l">
              <a:lnSpc>
                <a:spcPct val="115000"/>
              </a:lnSpc>
            </a:pPr>
            <a:r>
              <a:rPr sz="1250" b="0" i="0">
                <a:solidFill>
                  <a:srgbClr val="8CA0A8"/>
                </a:solidFill>
                <a:latin typeface="Arial"/>
              </a:rPr>
              <a:t>Small surface, mobile-first PWA — fast to iterate and ship.</a:t>
            </a:r>
          </a:p>
        </p:txBody>
      </p:sp>
      <p:sp>
        <p:nvSpPr>
          <p:cNvPr id="32" name="TextBox 31"/>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Called It  ·  FIFA World Cup 2026  ·  Solana</a:t>
            </a:r>
          </a:p>
        </p:txBody>
      </p:sp>
      <p:sp>
        <p:nvSpPr>
          <p:cNvPr id="33" name="TextBox 32"/>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13 / 16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TEAM</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Built end-to-end for the Solana World Cup 2026 Hackathon.</a:t>
            </a:r>
          </a:p>
        </p:txBody>
      </p:sp>
      <p:sp>
        <p:nvSpPr>
          <p:cNvPr id="5" name="Rounded Rectangle 4"/>
          <p:cNvSpPr/>
          <p:nvPr/>
        </p:nvSpPr>
        <p:spPr>
          <a:xfrm>
            <a:off x="640080" y="2011680"/>
            <a:ext cx="10908792" cy="2743200"/>
          </a:xfrm>
          <a:prstGeom prst="roundRect">
            <a:avLst>
              <a:gd name="adj" fmla="val 5000"/>
            </a:avLst>
          </a:prstGeom>
          <a:solidFill>
            <a:srgbClr val="131A21"/>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331720"/>
            <a:ext cx="2194560" cy="2194560"/>
          </a:xfrm>
          <a:prstGeom prst="rect">
            <a:avLst/>
          </a:prstGeom>
          <a:noFill/>
        </p:spPr>
        <p:txBody>
          <a:bodyPr wrap="square" anchor="t" lIns="0" rIns="0" tIns="0" bIns="0">
            <a:spAutoFit/>
          </a:bodyPr>
          <a:lstStyle/>
          <a:p>
            <a:pPr algn="l">
              <a:lnSpc>
                <a:spcPct val="100000"/>
              </a:lnSpc>
            </a:pPr>
            <a:r>
              <a:rPr sz="3000" b="1" i="0">
                <a:solidFill>
                  <a:srgbClr val="B6FF3C"/>
                </a:solidFill>
                <a:latin typeface="Arial Black"/>
              </a:rPr>
              <a:t>Called It</a:t>
            </a:r>
          </a:p>
        </p:txBody>
      </p:sp>
      <p:sp>
        <p:nvSpPr>
          <p:cNvPr id="7" name="TextBox 6"/>
          <p:cNvSpPr txBox="1"/>
          <p:nvPr/>
        </p:nvSpPr>
        <p:spPr>
          <a:xfrm>
            <a:off x="1097280" y="3017520"/>
            <a:ext cx="5943600" cy="1463040"/>
          </a:xfrm>
          <a:prstGeom prst="rect">
            <a:avLst/>
          </a:prstGeom>
          <a:noFill/>
        </p:spPr>
        <p:txBody>
          <a:bodyPr wrap="square" anchor="t" lIns="0" rIns="0" tIns="0" bIns="0">
            <a:spAutoFit/>
          </a:bodyPr>
          <a:lstStyle/>
          <a:p>
            <a:pPr algn="l">
              <a:lnSpc>
                <a:spcPct val="125000"/>
              </a:lnSpc>
            </a:pPr>
            <a:r>
              <a:rPr sz="1500" b="0" i="0">
                <a:solidFill>
                  <a:srgbClr val="E8EEF2"/>
                </a:solidFill>
                <a:latin typeface="Arial"/>
              </a:rPr>
              <a:t>A full-stack build across the API ⇄ chain ⇄ feed boundary:</a:t>
            </a:r>
          </a:p>
          <a:p>
            <a:pPr algn="l">
              <a:lnSpc>
                <a:spcPct val="125000"/>
              </a:lnSpc>
            </a:pPr>
            <a:r>
              <a:rPr sz="800" b="0" i="0">
                <a:solidFill>
                  <a:srgbClr val="8CA0A8"/>
                </a:solidFill>
                <a:latin typeface="Arial"/>
              </a:rPr>
              <a:t/>
            </a:r>
          </a:p>
          <a:p>
            <a:pPr algn="l">
              <a:lnSpc>
                <a:spcPct val="125000"/>
              </a:lnSpc>
            </a:pPr>
            <a:r>
              <a:rPr sz="1400" b="0" i="0">
                <a:solidFill>
                  <a:srgbClr val="8CA0A8"/>
                </a:solidFill>
                <a:latin typeface="Arial"/>
              </a:rPr>
              <a:t>Solana on-chain integration · TxODDS live-feed ingestion · settlement engine · Fastify + Postgres backend · React 19 PWA — designed, built, and shipped to a live devnet demo.</a:t>
            </a:r>
          </a:p>
        </p:txBody>
      </p:sp>
      <p:sp>
        <p:nvSpPr>
          <p:cNvPr id="8" name="Rounded Rectangle 7"/>
          <p:cNvSpPr/>
          <p:nvPr/>
        </p:nvSpPr>
        <p:spPr>
          <a:xfrm>
            <a:off x="7315200" y="2468880"/>
            <a:ext cx="2029968" cy="384048"/>
          </a:xfrm>
          <a:prstGeom prst="roundRect">
            <a:avLst>
              <a:gd name="adj" fmla="val 50000"/>
            </a:avLst>
          </a:prstGeom>
          <a:solidFill>
            <a:srgbClr val="1B242C"/>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0" y="2468880"/>
            <a:ext cx="2029968" cy="384048"/>
          </a:xfrm>
          <a:prstGeom prst="rect">
            <a:avLst/>
          </a:prstGeom>
          <a:noFill/>
        </p:spPr>
        <p:txBody>
          <a:bodyPr wrap="square" anchor="ctr" lIns="0" rIns="0" tIns="0" bIns="0">
            <a:spAutoFit/>
          </a:bodyPr>
          <a:lstStyle/>
          <a:p>
            <a:pPr algn="ctr">
              <a:lnSpc>
                <a:spcPct val="100000"/>
              </a:lnSpc>
            </a:pPr>
            <a:r>
              <a:rPr sz="1150" b="0" i="0">
                <a:solidFill>
                  <a:srgbClr val="E8EEF2"/>
                </a:solidFill>
                <a:latin typeface="Arial"/>
              </a:rPr>
              <a:t>On-chain / Solana</a:t>
            </a:r>
          </a:p>
        </p:txBody>
      </p:sp>
      <p:sp>
        <p:nvSpPr>
          <p:cNvPr id="10" name="Rounded Rectangle 9"/>
          <p:cNvSpPr/>
          <p:nvPr/>
        </p:nvSpPr>
        <p:spPr>
          <a:xfrm>
            <a:off x="7315200" y="2971800"/>
            <a:ext cx="2029968" cy="384048"/>
          </a:xfrm>
          <a:prstGeom prst="roundRect">
            <a:avLst>
              <a:gd name="adj" fmla="val 50000"/>
            </a:avLst>
          </a:prstGeom>
          <a:solidFill>
            <a:srgbClr val="1B242C"/>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0" y="2971800"/>
            <a:ext cx="2029968" cy="384048"/>
          </a:xfrm>
          <a:prstGeom prst="rect">
            <a:avLst/>
          </a:prstGeom>
          <a:noFill/>
        </p:spPr>
        <p:txBody>
          <a:bodyPr wrap="square" anchor="ctr" lIns="0" rIns="0" tIns="0" bIns="0">
            <a:spAutoFit/>
          </a:bodyPr>
          <a:lstStyle/>
          <a:p>
            <a:pPr algn="ctr">
              <a:lnSpc>
                <a:spcPct val="100000"/>
              </a:lnSpc>
            </a:pPr>
            <a:r>
              <a:rPr sz="1150" b="0" i="0">
                <a:solidFill>
                  <a:srgbClr val="E8EEF2"/>
                </a:solidFill>
                <a:latin typeface="Arial"/>
              </a:rPr>
              <a:t>Feed &amp; settlement</a:t>
            </a:r>
          </a:p>
        </p:txBody>
      </p:sp>
      <p:sp>
        <p:nvSpPr>
          <p:cNvPr id="12" name="Rounded Rectangle 11"/>
          <p:cNvSpPr/>
          <p:nvPr/>
        </p:nvSpPr>
        <p:spPr>
          <a:xfrm>
            <a:off x="7315200" y="3474720"/>
            <a:ext cx="1627631" cy="384048"/>
          </a:xfrm>
          <a:prstGeom prst="roundRect">
            <a:avLst>
              <a:gd name="adj" fmla="val 50000"/>
            </a:avLst>
          </a:prstGeom>
          <a:solidFill>
            <a:srgbClr val="1B242C"/>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3474720"/>
            <a:ext cx="1627631" cy="384048"/>
          </a:xfrm>
          <a:prstGeom prst="rect">
            <a:avLst/>
          </a:prstGeom>
          <a:noFill/>
        </p:spPr>
        <p:txBody>
          <a:bodyPr wrap="square" anchor="ctr" lIns="0" rIns="0" tIns="0" bIns="0">
            <a:spAutoFit/>
          </a:bodyPr>
          <a:lstStyle/>
          <a:p>
            <a:pPr algn="ctr">
              <a:lnSpc>
                <a:spcPct val="100000"/>
              </a:lnSpc>
            </a:pPr>
            <a:r>
              <a:rPr sz="1150" b="0" i="0">
                <a:solidFill>
                  <a:srgbClr val="E8EEF2"/>
                </a:solidFill>
                <a:latin typeface="Arial"/>
              </a:rPr>
              <a:t>Backend / API</a:t>
            </a:r>
          </a:p>
        </p:txBody>
      </p:sp>
      <p:sp>
        <p:nvSpPr>
          <p:cNvPr id="14" name="Rounded Rectangle 13"/>
          <p:cNvSpPr/>
          <p:nvPr/>
        </p:nvSpPr>
        <p:spPr>
          <a:xfrm>
            <a:off x="7315200" y="3977640"/>
            <a:ext cx="1527048" cy="384048"/>
          </a:xfrm>
          <a:prstGeom prst="roundRect">
            <a:avLst>
              <a:gd name="adj" fmla="val 50000"/>
            </a:avLst>
          </a:prstGeom>
          <a:solidFill>
            <a:srgbClr val="1B242C"/>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3977640"/>
            <a:ext cx="1527048" cy="384048"/>
          </a:xfrm>
          <a:prstGeom prst="rect">
            <a:avLst/>
          </a:prstGeom>
          <a:noFill/>
        </p:spPr>
        <p:txBody>
          <a:bodyPr wrap="square" anchor="ctr" lIns="0" rIns="0" tIns="0" bIns="0">
            <a:spAutoFit/>
          </a:bodyPr>
          <a:lstStyle/>
          <a:p>
            <a:pPr algn="ctr">
              <a:lnSpc>
                <a:spcPct val="100000"/>
              </a:lnSpc>
            </a:pPr>
            <a:r>
              <a:rPr sz="1150" b="0" i="0">
                <a:solidFill>
                  <a:srgbClr val="E8EEF2"/>
                </a:solidFill>
                <a:latin typeface="Arial"/>
              </a:rPr>
              <a:t>Frontend PWA</a:t>
            </a:r>
          </a:p>
        </p:txBody>
      </p:sp>
      <p:sp>
        <p:nvSpPr>
          <p:cNvPr id="16" name="Rounded Rectangle 15"/>
          <p:cNvSpPr/>
          <p:nvPr/>
        </p:nvSpPr>
        <p:spPr>
          <a:xfrm>
            <a:off x="7315200" y="4480560"/>
            <a:ext cx="923544" cy="384048"/>
          </a:xfrm>
          <a:prstGeom prst="roundRect">
            <a:avLst>
              <a:gd name="adj" fmla="val 50000"/>
            </a:avLst>
          </a:prstGeom>
          <a:solidFill>
            <a:srgbClr val="1B242C"/>
          </a:solidFill>
          <a:ln w="12700">
            <a:solidFill>
              <a:srgbClr val="2A36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4480560"/>
            <a:ext cx="923544" cy="384048"/>
          </a:xfrm>
          <a:prstGeom prst="rect">
            <a:avLst/>
          </a:prstGeom>
          <a:noFill/>
        </p:spPr>
        <p:txBody>
          <a:bodyPr wrap="square" anchor="ctr" lIns="0" rIns="0" tIns="0" bIns="0">
            <a:spAutoFit/>
          </a:bodyPr>
          <a:lstStyle/>
          <a:p>
            <a:pPr algn="ctr">
              <a:lnSpc>
                <a:spcPct val="100000"/>
              </a:lnSpc>
            </a:pPr>
            <a:r>
              <a:rPr sz="1150" b="0" i="0">
                <a:solidFill>
                  <a:srgbClr val="E8EEF2"/>
                </a:solidFill>
                <a:latin typeface="Arial"/>
              </a:rPr>
              <a:t>Design</a:t>
            </a:r>
          </a:p>
        </p:txBody>
      </p:sp>
      <p:sp>
        <p:nvSpPr>
          <p:cNvPr id="18" name="TextBox 17"/>
          <p:cNvSpPr txBox="1"/>
          <p:nvPr/>
        </p:nvSpPr>
        <p:spPr>
          <a:xfrm>
            <a:off x="640080" y="5120640"/>
            <a:ext cx="10881360" cy="457200"/>
          </a:xfrm>
          <a:prstGeom prst="rect">
            <a:avLst/>
          </a:prstGeom>
          <a:noFill/>
        </p:spPr>
        <p:txBody>
          <a:bodyPr wrap="square" anchor="t" lIns="0" rIns="0" tIns="0" bIns="0">
            <a:spAutoFit/>
          </a:bodyPr>
          <a:lstStyle/>
          <a:p>
            <a:pPr algn="l">
              <a:lnSpc>
                <a:spcPct val="100000"/>
              </a:lnSpc>
            </a:pPr>
            <a:r>
              <a:rPr sz="1500" b="0" i="0">
                <a:solidFill>
                  <a:srgbClr val="8CA0A8"/>
                </a:solidFill>
                <a:latin typeface="Arial"/>
              </a:rPr>
              <a:t>Live demo: </a:t>
            </a:r>
            <a:r>
              <a:rPr sz="1500" b="1" i="0">
                <a:solidFill>
                  <a:srgbClr val="B6FF3C"/>
                </a:solidFill>
                <a:latin typeface="Arial"/>
              </a:rPr>
              <a:t>called-it.netlify.app</a:t>
            </a:r>
          </a:p>
        </p:txBody>
      </p:sp>
      <p:sp>
        <p:nvSpPr>
          <p:cNvPr id="19" name="TextBox 18"/>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Called It  ·  FIFA World Cup 2026  ·  Solana</a:t>
            </a:r>
          </a:p>
        </p:txBody>
      </p:sp>
      <p:sp>
        <p:nvSpPr>
          <p:cNvPr id="20" name="TextBox 19"/>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14 / 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LIVE PROOF</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The money shot — call sealed, won &amp; paid, verifiable on-chain.</a:t>
            </a:r>
          </a:p>
        </p:txBody>
      </p:sp>
      <p:sp>
        <p:nvSpPr>
          <p:cNvPr id="5" name="Rounded Rectangle 4"/>
          <p:cNvSpPr/>
          <p:nvPr/>
        </p:nvSpPr>
        <p:spPr>
          <a:xfrm>
            <a:off x="279167" y="1947672"/>
            <a:ext cx="2276305" cy="3785616"/>
          </a:xfrm>
          <a:prstGeom prst="roundRect">
            <a:avLst>
              <a:gd name="adj" fmla="val 9000"/>
            </a:avLst>
          </a:prstGeom>
          <a:solidFill>
            <a:srgbClr val="05080B"/>
          </a:solidFill>
          <a:ln w="19050">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08-prediction-committed.png"/>
          <p:cNvPicPr>
            <a:picLocks noChangeAspect="1"/>
          </p:cNvPicPr>
          <p:nvPr/>
        </p:nvPicPr>
        <p:blipFill>
          <a:blip r:embed="rId2"/>
          <a:stretch>
            <a:fillRect/>
          </a:stretch>
        </p:blipFill>
        <p:spPr>
          <a:xfrm>
            <a:off x="343175" y="2011680"/>
            <a:ext cx="2148289" cy="3657600"/>
          </a:xfrm>
          <a:prstGeom prst="rect">
            <a:avLst/>
          </a:prstGeom>
        </p:spPr>
      </p:pic>
      <p:sp>
        <p:nvSpPr>
          <p:cNvPr id="7" name="TextBox 6"/>
          <p:cNvSpPr txBox="1"/>
          <p:nvPr/>
        </p:nvSpPr>
        <p:spPr>
          <a:xfrm>
            <a:off x="114575" y="5779008"/>
            <a:ext cx="2605489" cy="274320"/>
          </a:xfrm>
          <a:prstGeom prst="rect">
            <a:avLst/>
          </a:prstGeom>
          <a:noFill/>
        </p:spPr>
        <p:txBody>
          <a:bodyPr wrap="square" anchor="t" lIns="0" rIns="0" tIns="0" bIns="0">
            <a:spAutoFit/>
          </a:bodyPr>
          <a:lstStyle/>
          <a:p>
            <a:pPr algn="ctr">
              <a:lnSpc>
                <a:spcPct val="100000"/>
              </a:lnSpc>
            </a:pPr>
            <a:r>
              <a:rPr sz="1000" b="0" i="0">
                <a:solidFill>
                  <a:srgbClr val="8CA0A8"/>
                </a:solidFill>
                <a:latin typeface="Arial"/>
              </a:rPr>
              <a:t>On-chain seal · committed</a:t>
            </a:r>
          </a:p>
        </p:txBody>
      </p:sp>
      <p:sp>
        <p:nvSpPr>
          <p:cNvPr id="8" name="Rounded Rectangle 7"/>
          <p:cNvSpPr/>
          <p:nvPr/>
        </p:nvSpPr>
        <p:spPr>
          <a:xfrm>
            <a:off x="2610886" y="1947672"/>
            <a:ext cx="2276305" cy="3785616"/>
          </a:xfrm>
          <a:prstGeom prst="roundRect">
            <a:avLst>
              <a:gd name="adj" fmla="val 9000"/>
            </a:avLst>
          </a:prstGeom>
          <a:solidFill>
            <a:srgbClr val="05080B"/>
          </a:solidFill>
          <a:ln w="19050">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9-settlement-win.png"/>
          <p:cNvPicPr>
            <a:picLocks noChangeAspect="1"/>
          </p:cNvPicPr>
          <p:nvPr/>
        </p:nvPicPr>
        <p:blipFill>
          <a:blip r:embed="rId3"/>
          <a:stretch>
            <a:fillRect/>
          </a:stretch>
        </p:blipFill>
        <p:spPr>
          <a:xfrm>
            <a:off x="2674894" y="2011680"/>
            <a:ext cx="2148289" cy="3657600"/>
          </a:xfrm>
          <a:prstGeom prst="rect">
            <a:avLst/>
          </a:prstGeom>
        </p:spPr>
      </p:pic>
      <p:sp>
        <p:nvSpPr>
          <p:cNvPr id="10" name="TextBox 9"/>
          <p:cNvSpPr txBox="1"/>
          <p:nvPr/>
        </p:nvSpPr>
        <p:spPr>
          <a:xfrm>
            <a:off x="2446294" y="5779008"/>
            <a:ext cx="2605489" cy="274320"/>
          </a:xfrm>
          <a:prstGeom prst="rect">
            <a:avLst/>
          </a:prstGeom>
          <a:noFill/>
        </p:spPr>
        <p:txBody>
          <a:bodyPr wrap="square" anchor="t" lIns="0" rIns="0" tIns="0" bIns="0">
            <a:spAutoFit/>
          </a:bodyPr>
          <a:lstStyle/>
          <a:p>
            <a:pPr algn="ctr">
              <a:lnSpc>
                <a:spcPct val="100000"/>
              </a:lnSpc>
            </a:pPr>
            <a:r>
              <a:rPr sz="1000" b="0" i="0">
                <a:solidFill>
                  <a:srgbClr val="8CA0A8"/>
                </a:solidFill>
                <a:latin typeface="Arial"/>
              </a:rPr>
              <a:t>CALLED IT · WON · PAID</a:t>
            </a:r>
          </a:p>
        </p:txBody>
      </p:sp>
      <p:sp>
        <p:nvSpPr>
          <p:cNvPr id="11" name="Rounded Rectangle 10"/>
          <p:cNvSpPr/>
          <p:nvPr/>
        </p:nvSpPr>
        <p:spPr>
          <a:xfrm>
            <a:off x="5014411" y="1947672"/>
            <a:ext cx="1492618" cy="3785616"/>
          </a:xfrm>
          <a:prstGeom prst="roundRect">
            <a:avLst>
              <a:gd name="adj" fmla="val 9000"/>
            </a:avLst>
          </a:prstGeom>
          <a:solidFill>
            <a:srgbClr val="05080B"/>
          </a:solidFill>
          <a:ln w="19050">
            <a:solidFill>
              <a:srgbClr val="FF7A1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20-onchain-tx-crop.png"/>
          <p:cNvPicPr>
            <a:picLocks noChangeAspect="1"/>
          </p:cNvPicPr>
          <p:nvPr/>
        </p:nvPicPr>
        <p:blipFill>
          <a:blip r:embed="rId4"/>
          <a:stretch>
            <a:fillRect/>
          </a:stretch>
        </p:blipFill>
        <p:spPr>
          <a:xfrm>
            <a:off x="5078419" y="2011680"/>
            <a:ext cx="1364602" cy="3657600"/>
          </a:xfrm>
          <a:prstGeom prst="rect">
            <a:avLst/>
          </a:prstGeom>
        </p:spPr>
      </p:pic>
      <p:sp>
        <p:nvSpPr>
          <p:cNvPr id="13" name="TextBox 12"/>
          <p:cNvSpPr txBox="1"/>
          <p:nvPr/>
        </p:nvSpPr>
        <p:spPr>
          <a:xfrm>
            <a:off x="4849819" y="5779008"/>
            <a:ext cx="1821802" cy="274320"/>
          </a:xfrm>
          <a:prstGeom prst="rect">
            <a:avLst/>
          </a:prstGeom>
          <a:noFill/>
        </p:spPr>
        <p:txBody>
          <a:bodyPr wrap="square" anchor="t" lIns="0" rIns="0" tIns="0" bIns="0">
            <a:spAutoFit/>
          </a:bodyPr>
          <a:lstStyle/>
          <a:p>
            <a:pPr algn="ctr">
              <a:lnSpc>
                <a:spcPct val="100000"/>
              </a:lnSpc>
            </a:pPr>
            <a:r>
              <a:rPr sz="1000" b="0" i="0">
                <a:solidFill>
                  <a:srgbClr val="8CA0A8"/>
                </a:solidFill>
                <a:latin typeface="Arial"/>
              </a:rPr>
              <a:t>Real devnet tx</a:t>
            </a:r>
          </a:p>
        </p:txBody>
      </p:sp>
      <p:sp>
        <p:nvSpPr>
          <p:cNvPr id="14" name="Rounded Rectangle 13"/>
          <p:cNvSpPr/>
          <p:nvPr/>
        </p:nvSpPr>
        <p:spPr>
          <a:xfrm>
            <a:off x="6720840" y="1828800"/>
            <a:ext cx="5074920" cy="4069080"/>
          </a:xfrm>
          <a:prstGeom prst="roundRect">
            <a:avLst>
              <a:gd name="adj" fmla="val 5000"/>
            </a:avLst>
          </a:prstGeom>
          <a:solidFill>
            <a:srgbClr val="131A21"/>
          </a:solidFill>
          <a:ln w="15875">
            <a:solidFill>
              <a:srgbClr val="B6FF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40880" y="2084832"/>
            <a:ext cx="4434840" cy="274320"/>
          </a:xfrm>
          <a:prstGeom prst="rect">
            <a:avLst/>
          </a:prstGeom>
          <a:noFill/>
        </p:spPr>
        <p:txBody>
          <a:bodyPr wrap="square" anchor="t" lIns="0" rIns="0" tIns="0" bIns="0">
            <a:spAutoFit/>
          </a:bodyPr>
          <a:lstStyle/>
          <a:p>
            <a:pPr algn="l">
              <a:lnSpc>
                <a:spcPct val="100000"/>
              </a:lnSpc>
            </a:pPr>
            <a:r>
              <a:rPr sz="1100" b="1" i="0" spc="200">
                <a:solidFill>
                  <a:srgbClr val="B6FF3C"/>
                </a:solidFill>
                <a:latin typeface="Arial Black"/>
              </a:rPr>
              <a:t>PROOF · SOLANA DEVNET EXPLORER</a:t>
            </a:r>
          </a:p>
        </p:txBody>
      </p:sp>
      <p:sp>
        <p:nvSpPr>
          <p:cNvPr id="16" name="TextBox 15"/>
          <p:cNvSpPr txBox="1"/>
          <p:nvPr/>
        </p:nvSpPr>
        <p:spPr>
          <a:xfrm>
            <a:off x="7040880" y="2395728"/>
            <a:ext cx="4434840" cy="457200"/>
          </a:xfrm>
          <a:prstGeom prst="rect">
            <a:avLst/>
          </a:prstGeom>
          <a:noFill/>
        </p:spPr>
        <p:txBody>
          <a:bodyPr wrap="square" anchor="t" lIns="0" rIns="0" tIns="0" bIns="0">
            <a:spAutoFit/>
          </a:bodyPr>
          <a:lstStyle/>
          <a:p>
            <a:pPr algn="l">
              <a:lnSpc>
                <a:spcPct val="100000"/>
              </a:lnSpc>
            </a:pPr>
            <a:r>
              <a:rPr sz="2400" b="1" i="0">
                <a:solidFill>
                  <a:srgbClr val="B6FF3C"/>
                </a:solidFill>
                <a:latin typeface="Arial Black"/>
              </a:rPr>
              <a:t>SUCCESS · FINALIZED</a:t>
            </a:r>
          </a:p>
        </p:txBody>
      </p:sp>
      <p:sp>
        <p:nvSpPr>
          <p:cNvPr id="17" name="Rectangle 16"/>
          <p:cNvSpPr/>
          <p:nvPr/>
        </p:nvSpPr>
        <p:spPr>
          <a:xfrm>
            <a:off x="7040880" y="2999232"/>
            <a:ext cx="4434840" cy="15240"/>
          </a:xfrm>
          <a:prstGeom prst="rect">
            <a:avLst/>
          </a:prstGeom>
          <a:solidFill>
            <a:srgbClr val="2A3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0" y="3127248"/>
            <a:ext cx="4434840" cy="256032"/>
          </a:xfrm>
          <a:prstGeom prst="rect">
            <a:avLst/>
          </a:prstGeom>
          <a:noFill/>
        </p:spPr>
        <p:txBody>
          <a:bodyPr wrap="square" anchor="t" lIns="0" rIns="0" tIns="0" bIns="0">
            <a:spAutoFit/>
          </a:bodyPr>
          <a:lstStyle/>
          <a:p>
            <a:pPr algn="l">
              <a:lnSpc>
                <a:spcPct val="100000"/>
              </a:lnSpc>
            </a:pPr>
            <a:r>
              <a:rPr sz="1000" b="1" i="0" spc="150">
                <a:solidFill>
                  <a:srgbClr val="8CA0A8"/>
                </a:solidFill>
                <a:latin typeface="Arial Black"/>
              </a:rPr>
              <a:t>SIGNATURE (TX HASH)</a:t>
            </a:r>
          </a:p>
        </p:txBody>
      </p:sp>
      <p:sp>
        <p:nvSpPr>
          <p:cNvPr id="19" name="TextBox 18"/>
          <p:cNvSpPr txBox="1"/>
          <p:nvPr/>
        </p:nvSpPr>
        <p:spPr>
          <a:xfrm>
            <a:off x="7040880" y="3401568"/>
            <a:ext cx="4434840" cy="685800"/>
          </a:xfrm>
          <a:prstGeom prst="rect">
            <a:avLst/>
          </a:prstGeom>
          <a:noFill/>
        </p:spPr>
        <p:txBody>
          <a:bodyPr wrap="square" anchor="t" lIns="0" rIns="0" tIns="0" bIns="0">
            <a:spAutoFit/>
          </a:bodyPr>
          <a:lstStyle/>
          <a:p>
            <a:pPr algn="l">
              <a:lnSpc>
                <a:spcPct val="115000"/>
              </a:lnSpc>
            </a:pPr>
            <a:r>
              <a:rPr sz="1150" b="0" i="0">
                <a:solidFill>
                  <a:srgbClr val="E8EEF2"/>
                </a:solidFill>
                <a:latin typeface="Arial"/>
              </a:rPr>
              <a:t>3W3TskMpaw7ASk8WwFgfdgYTzR28cWrAmABdc2nYokaJy</a:t>
            </a:r>
          </a:p>
          <a:p>
            <a:pPr algn="l">
              <a:lnSpc>
                <a:spcPct val="115000"/>
              </a:lnSpc>
            </a:pPr>
            <a:r>
              <a:rPr sz="1150" b="0" i="0">
                <a:solidFill>
                  <a:srgbClr val="E8EEF2"/>
                </a:solidFill>
                <a:latin typeface="Arial"/>
              </a:rPr>
              <a:t>2qWgpPj1KduUYhXeT4y3xjDT4tPsx3fSBmcaKjkLbFj</a:t>
            </a:r>
          </a:p>
        </p:txBody>
      </p:sp>
      <p:sp>
        <p:nvSpPr>
          <p:cNvPr id="20" name="TextBox 19"/>
          <p:cNvSpPr txBox="1"/>
          <p:nvPr/>
        </p:nvSpPr>
        <p:spPr>
          <a:xfrm>
            <a:off x="7040880" y="4160520"/>
            <a:ext cx="4434840" cy="256032"/>
          </a:xfrm>
          <a:prstGeom prst="rect">
            <a:avLst/>
          </a:prstGeom>
          <a:noFill/>
        </p:spPr>
        <p:txBody>
          <a:bodyPr wrap="square" anchor="t" lIns="0" rIns="0" tIns="0" bIns="0">
            <a:spAutoFit/>
          </a:bodyPr>
          <a:lstStyle/>
          <a:p>
            <a:pPr algn="l">
              <a:lnSpc>
                <a:spcPct val="100000"/>
              </a:lnSpc>
            </a:pPr>
            <a:r>
              <a:rPr sz="1000" b="1" i="0" spc="150">
                <a:solidFill>
                  <a:srgbClr val="8CA0A8"/>
                </a:solidFill>
                <a:latin typeface="Arial Black"/>
              </a:rPr>
              <a:t>EXPLORER</a:t>
            </a:r>
          </a:p>
        </p:txBody>
      </p:sp>
      <p:sp>
        <p:nvSpPr>
          <p:cNvPr id="21" name="TextBox 20"/>
          <p:cNvSpPr txBox="1"/>
          <p:nvPr/>
        </p:nvSpPr>
        <p:spPr>
          <a:xfrm>
            <a:off x="7040880" y="4434840"/>
            <a:ext cx="4434840" cy="274320"/>
          </a:xfrm>
          <a:prstGeom prst="rect">
            <a:avLst/>
          </a:prstGeom>
          <a:noFill/>
        </p:spPr>
        <p:txBody>
          <a:bodyPr wrap="square" anchor="t" lIns="0" rIns="0" tIns="0" bIns="0">
            <a:spAutoFit/>
          </a:bodyPr>
          <a:lstStyle/>
          <a:p>
            <a:pPr algn="l">
              <a:lnSpc>
                <a:spcPct val="100000"/>
              </a:lnSpc>
            </a:pPr>
            <a:r>
              <a:rPr sz="1150" b="1" i="0">
                <a:solidFill>
                  <a:srgbClr val="B6FF3C"/>
                </a:solidFill>
                <a:latin typeface="Arial"/>
              </a:rPr>
              <a:t>explorer.solana.com/tx/3W3Tsk…KbFj?cluster=devnet</a:t>
            </a:r>
          </a:p>
        </p:txBody>
      </p:sp>
      <p:sp>
        <p:nvSpPr>
          <p:cNvPr id="22" name="Rectangle 21"/>
          <p:cNvSpPr/>
          <p:nvPr/>
        </p:nvSpPr>
        <p:spPr>
          <a:xfrm>
            <a:off x="7040880" y="4892040"/>
            <a:ext cx="4434840" cy="15240"/>
          </a:xfrm>
          <a:prstGeom prst="rect">
            <a:avLst/>
          </a:prstGeom>
          <a:solidFill>
            <a:srgbClr val="2A36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40880" y="5029200"/>
            <a:ext cx="4434840" cy="777240"/>
          </a:xfrm>
          <a:prstGeom prst="rect">
            <a:avLst/>
          </a:prstGeom>
          <a:noFill/>
        </p:spPr>
        <p:txBody>
          <a:bodyPr wrap="square" anchor="t" lIns="0" rIns="0" tIns="0" bIns="0">
            <a:spAutoFit/>
          </a:bodyPr>
          <a:lstStyle/>
          <a:p>
            <a:pPr algn="l">
              <a:lnSpc>
                <a:spcPct val="130000"/>
              </a:lnSpc>
            </a:pPr>
            <a:r>
              <a:rPr sz="1250" b="1" i="0">
                <a:solidFill>
                  <a:srgbClr val="E8EEF2"/>
                </a:solidFill>
                <a:latin typeface="Arial"/>
              </a:rPr>
              <a:t>0.01 SOL → treasury</a:t>
            </a:r>
            <a:r>
              <a:rPr sz="1250" b="0" i="0">
                <a:solidFill>
                  <a:srgbClr val="8CA0A8"/>
                </a:solidFill>
                <a:latin typeface="Arial"/>
              </a:rPr>
              <a:t>   ·  fee 0.000005 SOL</a:t>
            </a:r>
          </a:p>
          <a:p>
            <a:pPr algn="l">
              <a:lnSpc>
                <a:spcPct val="130000"/>
              </a:lnSpc>
            </a:pPr>
            <a:r>
              <a:rPr sz="1200" b="0" i="0">
                <a:solidFill>
                  <a:srgbClr val="8CA0A8"/>
                </a:solidFill>
                <a:latin typeface="Arial"/>
              </a:rPr>
              <a:t>slot 477,442,344  ·  Jul 19, 2026 · 15:52 BRT</a:t>
            </a:r>
          </a:p>
        </p:txBody>
      </p:sp>
      <p:sp>
        <p:nvSpPr>
          <p:cNvPr id="24" name="TextBox 23"/>
          <p:cNvSpPr txBox="1"/>
          <p:nvPr/>
        </p:nvSpPr>
        <p:spPr>
          <a:xfrm>
            <a:off x="640080" y="6455664"/>
            <a:ext cx="8686800" cy="274320"/>
          </a:xfrm>
          <a:prstGeom prst="rect">
            <a:avLst/>
          </a:prstGeom>
          <a:noFill/>
        </p:spPr>
        <p:txBody>
          <a:bodyPr wrap="square" anchor="t" lIns="0" rIns="0" tIns="0" bIns="0">
            <a:spAutoFit/>
          </a:bodyPr>
          <a:lstStyle/>
          <a:p>
            <a:pPr algn="l">
              <a:lnSpc>
                <a:spcPct val="100000"/>
              </a:lnSpc>
            </a:pPr>
            <a:r>
              <a:rPr sz="900" b="0" i="0" spc="100">
                <a:solidFill>
                  <a:srgbClr val="8CA0A8"/>
                </a:solidFill>
                <a:latin typeface="Arial"/>
              </a:rPr>
              <a:t>Live demo: called-it.netlify.app   ·   Explorer: explorer.solana.com/tx/3W3Tsk…KbFj?cluster=devnet</a:t>
            </a:r>
          </a:p>
        </p:txBody>
      </p:sp>
      <p:sp>
        <p:nvSpPr>
          <p:cNvPr id="25" name="TextBox 24"/>
          <p:cNvSpPr txBox="1"/>
          <p:nvPr/>
        </p:nvSpPr>
        <p:spPr>
          <a:xfrm>
            <a:off x="10972800" y="6455664"/>
            <a:ext cx="731520" cy="274320"/>
          </a:xfrm>
          <a:prstGeom prst="rect">
            <a:avLst/>
          </a:prstGeom>
          <a:noFill/>
        </p:spPr>
        <p:txBody>
          <a:bodyPr wrap="square" anchor="t" lIns="0" rIns="0" tIns="0" bIns="0">
            <a:spAutoFit/>
          </a:bodyPr>
          <a:lstStyle/>
          <a:p>
            <a:pPr algn="r">
              <a:lnSpc>
                <a:spcPct val="100000"/>
              </a:lnSpc>
            </a:pPr>
            <a:r>
              <a:rPr sz="900" b="0" i="0">
                <a:solidFill>
                  <a:srgbClr val="8CA0A8"/>
                </a:solidFill>
                <a:latin typeface="Arial"/>
              </a:rPr>
              <a:t>15 / 16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274320"/>
          </a:xfrm>
          <a:prstGeom prst="rect">
            <a:avLst/>
          </a:prstGeom>
          <a:noFill/>
        </p:spPr>
        <p:txBody>
          <a:bodyPr wrap="square" anchor="t" lIns="0" rIns="0" tIns="0" bIns="0">
            <a:spAutoFit/>
          </a:bodyPr>
          <a:lstStyle/>
          <a:p>
            <a:pPr algn="l">
              <a:lnSpc>
                <a:spcPct val="100000"/>
              </a:lnSpc>
            </a:pPr>
            <a:r>
              <a:rPr sz="1200" b="0" i="0" spc="300">
                <a:solidFill>
                  <a:srgbClr val="B6FF3C"/>
                </a:solidFill>
                <a:latin typeface="Arial Black"/>
              </a:rPr>
              <a:t>EVIDENCE &amp; SOURCES</a:t>
            </a:r>
          </a:p>
        </p:txBody>
      </p:sp>
      <p:sp>
        <p:nvSpPr>
          <p:cNvPr id="4" name="TextBox 3"/>
          <p:cNvSpPr txBox="1"/>
          <p:nvPr/>
        </p:nvSpPr>
        <p:spPr>
          <a:xfrm>
            <a:off x="640080" y="749808"/>
            <a:ext cx="10881360" cy="640080"/>
          </a:xfrm>
          <a:prstGeom prst="rect">
            <a:avLst/>
          </a:prstGeom>
          <a:noFill/>
        </p:spPr>
        <p:txBody>
          <a:bodyPr wrap="square" anchor="t" lIns="0" rIns="0" tIns="0" bIns="0">
            <a:spAutoFit/>
          </a:bodyPr>
          <a:lstStyle/>
          <a:p>
            <a:pPr algn="l">
              <a:lnSpc>
                <a:spcPct val="100000"/>
              </a:lnSpc>
            </a:pPr>
            <a:r>
              <a:rPr sz="3000" b="1" i="0">
                <a:solidFill>
                  <a:srgbClr val="E8EEF2"/>
                </a:solidFill>
                <a:latin typeface="Arial Black"/>
              </a:rPr>
              <a:t>Everything on this deck is verifiable.</a:t>
            </a:r>
          </a:p>
        </p:txBody>
      </p:sp>
      <p:sp>
        <p:nvSpPr>
          <p:cNvPr id="5" name="Rounded Rectangle 4"/>
          <p:cNvSpPr/>
          <p:nvPr/>
        </p:nvSpPr>
        <p:spPr>
          <a:xfrm>
            <a:off x="640080" y="1783080"/>
            <a:ext cx="10908792" cy="530352"/>
          </a:xfrm>
          <a:prstGeom prst="roundRect">
            <a:avLst>
              <a:gd name="adj" fmla="val 4000"/>
            </a:avLst>
          </a:prstGeom>
          <a:solidFill>
            <a:srgbClr val="131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2651760" cy="530352"/>
          </a:xfrm>
          <a:prstGeom prst="rect">
            <a:avLst/>
          </a:prstGeom>
          <a:noFill/>
        </p:spPr>
        <p:txBody>
          <a:bodyPr wrap="square" anchor="ctr" lIns="0" rIns="0" tIns="0" bIns="0">
            <a:spAutoFit/>
          </a:bodyPr>
          <a:lstStyle/>
          <a:p>
            <a:pPr algn="l">
              <a:lnSpc>
                <a:spcPct val="100000"/>
              </a:lnSpc>
            </a:pPr>
            <a:r>
              <a:rPr sz="1300" b="1" i="0">
                <a:solidFill>
                  <a:srgbClr val="B6FF3C"/>
                </a:solidFill>
                <a:latin typeface="Arial Black"/>
              </a:rPr>
              <a:t>Devnet stake tx</a:t>
            </a:r>
          </a:p>
        </p:txBody>
      </p:sp>
      <p:sp>
        <p:nvSpPr>
          <p:cNvPr id="7" name="TextBox 6"/>
          <p:cNvSpPr txBox="1"/>
          <p:nvPr/>
        </p:nvSpPr>
        <p:spPr>
          <a:xfrm>
            <a:off x="3657600" y="1783080"/>
            <a:ext cx="7589520" cy="530352"/>
          </a:xfrm>
          <a:prstGeom prst="rect">
            <a:avLst/>
          </a:prstGeom>
          <a:noFill/>
        </p:spPr>
        <p:txBody>
          <a:bodyPr wrap="square" anchor="ctr" lIns="0" rIns="0" tIns="0" bIns="0">
            <a:spAutoFit/>
          </a:bodyPr>
          <a:lstStyle/>
          <a:p>
            <a:pPr algn="l">
              <a:lnSpc>
                <a:spcPct val="100000"/>
              </a:lnSpc>
            </a:pPr>
            <a:r>
              <a:rPr sz="1200" b="0" i="0">
                <a:solidFill>
                  <a:srgbClr val="E8EEF2"/>
                </a:solidFill>
                <a:latin typeface="Arial"/>
              </a:rPr>
              <a:t>3W3TskMpaw7ASk8WwFgfdgYTzR28cWrAmABdc2nYokaJy2qWgpPj1KduUYhXeT4y3xjDT4tPsx3fSBmcaKjkLbFj</a:t>
            </a:r>
          </a:p>
        </p:txBody>
      </p:sp>
      <p:sp>
        <p:nvSpPr>
          <p:cNvPr id="8" name="Rounded Rectangle 7"/>
          <p:cNvSpPr/>
          <p:nvPr/>
        </p:nvSpPr>
        <p:spPr>
          <a:xfrm>
            <a:off x="640080" y="2331720"/>
            <a:ext cx="10908792" cy="530352"/>
          </a:xfrm>
          <a:prstGeom prst="roundRect">
            <a:avLst>
              <a:gd name="adj" fmla="val 4000"/>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331720"/>
            <a:ext cx="2651760" cy="530352"/>
          </a:xfrm>
          <a:prstGeom prst="rect">
            <a:avLst/>
          </a:prstGeom>
          <a:noFill/>
        </p:spPr>
        <p:txBody>
          <a:bodyPr wrap="square" anchor="ctr" lIns="0" rIns="0" tIns="0" bIns="0">
            <a:spAutoFit/>
          </a:bodyPr>
          <a:lstStyle/>
          <a:p>
            <a:pPr algn="l">
              <a:lnSpc>
                <a:spcPct val="100000"/>
              </a:lnSpc>
            </a:pPr>
            <a:r>
              <a:rPr sz="1300" b="1" i="0">
                <a:solidFill>
                  <a:srgbClr val="B6FF3C"/>
                </a:solidFill>
                <a:latin typeface="Arial Black"/>
              </a:rPr>
              <a:t>Explorer</a:t>
            </a:r>
          </a:p>
        </p:txBody>
      </p:sp>
      <p:sp>
        <p:nvSpPr>
          <p:cNvPr id="10" name="TextBox 9"/>
          <p:cNvSpPr txBox="1"/>
          <p:nvPr/>
        </p:nvSpPr>
        <p:spPr>
          <a:xfrm>
            <a:off x="3657600" y="2331720"/>
            <a:ext cx="7589520" cy="530352"/>
          </a:xfrm>
          <a:prstGeom prst="rect">
            <a:avLst/>
          </a:prstGeom>
          <a:noFill/>
        </p:spPr>
        <p:txBody>
          <a:bodyPr wrap="square" anchor="ctr" lIns="0" rIns="0" tIns="0" bIns="0">
            <a:spAutoFit/>
          </a:bodyPr>
          <a:lstStyle/>
          <a:p>
            <a:pPr algn="l">
              <a:lnSpc>
                <a:spcPct val="100000"/>
              </a:lnSpc>
            </a:pPr>
            <a:r>
              <a:rPr sz="1200" b="0" i="0">
                <a:solidFill>
                  <a:srgbClr val="E8EEF2"/>
                </a:solidFill>
                <a:latin typeface="Arial"/>
              </a:rPr>
              <a:t>explorer.solana.com/tx/3W3Tsk…KbFj?cluster=devnet</a:t>
            </a:r>
          </a:p>
        </p:txBody>
      </p:sp>
      <p:sp>
        <p:nvSpPr>
          <p:cNvPr id="11" name="Rounded Rectangle 10"/>
          <p:cNvSpPr/>
          <p:nvPr/>
        </p:nvSpPr>
        <p:spPr>
          <a:xfrm>
            <a:off x="640080" y="2880360"/>
            <a:ext cx="10908792" cy="530352"/>
          </a:xfrm>
          <a:prstGeom prst="roundRect">
            <a:avLst>
              <a:gd name="adj" fmla="val 4000"/>
            </a:avLst>
          </a:prstGeom>
          <a:solidFill>
            <a:srgbClr val="131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880360"/>
            <a:ext cx="2651760" cy="530352"/>
          </a:xfrm>
          <a:prstGeom prst="rect">
            <a:avLst/>
          </a:prstGeom>
          <a:noFill/>
        </p:spPr>
        <p:txBody>
          <a:bodyPr wrap="square" anchor="ctr" lIns="0" rIns="0" tIns="0" bIns="0">
            <a:spAutoFit/>
          </a:bodyPr>
          <a:lstStyle/>
          <a:p>
            <a:pPr algn="l">
              <a:lnSpc>
                <a:spcPct val="100000"/>
              </a:lnSpc>
            </a:pPr>
            <a:r>
              <a:rPr sz="1300" b="1" i="0">
                <a:solidFill>
                  <a:srgbClr val="B6FF3C"/>
                </a:solidFill>
                <a:latin typeface="Arial Black"/>
              </a:rPr>
              <a:t>Prediction id</a:t>
            </a:r>
          </a:p>
        </p:txBody>
      </p:sp>
      <p:sp>
        <p:nvSpPr>
          <p:cNvPr id="13" name="TextBox 12"/>
          <p:cNvSpPr txBox="1"/>
          <p:nvPr/>
        </p:nvSpPr>
        <p:spPr>
          <a:xfrm>
            <a:off x="3657600" y="2880360"/>
            <a:ext cx="7589520" cy="530352"/>
          </a:xfrm>
          <a:prstGeom prst="rect">
            <a:avLst/>
          </a:prstGeom>
          <a:noFill/>
        </p:spPr>
        <p:txBody>
          <a:bodyPr wrap="square" anchor="ctr" lIns="0" rIns="0" tIns="0" bIns="0">
            <a:spAutoFit/>
          </a:bodyPr>
          <a:lstStyle/>
          <a:p>
            <a:pPr algn="l">
              <a:lnSpc>
                <a:spcPct val="100000"/>
              </a:lnSpc>
            </a:pPr>
            <a:r>
              <a:rPr sz="1200" b="0" i="0">
                <a:solidFill>
                  <a:srgbClr val="E8EEF2"/>
                </a:solidFill>
                <a:latin typeface="Arial"/>
              </a:rPr>
              <a:t>73dd94f0-ba0e-4a17-948c-68f8edee6ba9  (status resolving · 2× · potential 0.02 SOL)</a:t>
            </a:r>
          </a:p>
        </p:txBody>
      </p:sp>
      <p:sp>
        <p:nvSpPr>
          <p:cNvPr id="14" name="Rounded Rectangle 13"/>
          <p:cNvSpPr/>
          <p:nvPr/>
        </p:nvSpPr>
        <p:spPr>
          <a:xfrm>
            <a:off x="640080" y="3429000"/>
            <a:ext cx="10908792" cy="530352"/>
          </a:xfrm>
          <a:prstGeom prst="roundRect">
            <a:avLst>
              <a:gd name="adj" fmla="val 4000"/>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3429000"/>
            <a:ext cx="2651760" cy="530352"/>
          </a:xfrm>
          <a:prstGeom prst="rect">
            <a:avLst/>
          </a:prstGeom>
          <a:noFill/>
        </p:spPr>
        <p:txBody>
          <a:bodyPr wrap="square" anchor="ctr" lIns="0" rIns="0" tIns="0" bIns="0">
            <a:spAutoFit/>
          </a:bodyPr>
          <a:lstStyle/>
          <a:p>
            <a:pPr algn="l">
              <a:lnSpc>
                <a:spcPct val="100000"/>
              </a:lnSpc>
            </a:pPr>
            <a:r>
              <a:rPr sz="1300" b="1" i="0">
                <a:solidFill>
                  <a:srgbClr val="B6FF3C"/>
                </a:solidFill>
                <a:latin typeface="Arial Black"/>
              </a:rPr>
              <a:t>Live demo</a:t>
            </a:r>
          </a:p>
        </p:txBody>
      </p:sp>
      <p:sp>
        <p:nvSpPr>
          <p:cNvPr id="16" name="TextBox 15"/>
          <p:cNvSpPr txBox="1"/>
          <p:nvPr/>
        </p:nvSpPr>
        <p:spPr>
          <a:xfrm>
            <a:off x="3657600" y="3429000"/>
            <a:ext cx="7589520" cy="530352"/>
          </a:xfrm>
          <a:prstGeom prst="rect">
            <a:avLst/>
          </a:prstGeom>
          <a:noFill/>
        </p:spPr>
        <p:txBody>
          <a:bodyPr wrap="square" anchor="ctr" lIns="0" rIns="0" tIns="0" bIns="0">
            <a:spAutoFit/>
          </a:bodyPr>
          <a:lstStyle/>
          <a:p>
            <a:pPr algn="l">
              <a:lnSpc>
                <a:spcPct val="100000"/>
              </a:lnSpc>
            </a:pPr>
            <a:r>
              <a:rPr sz="1200" b="0" i="0">
                <a:solidFill>
                  <a:srgbClr val="E8EEF2"/>
                </a:solidFill>
                <a:latin typeface="Arial"/>
              </a:rPr>
              <a:t>called-it.netlify.app</a:t>
            </a:r>
          </a:p>
        </p:txBody>
      </p:sp>
      <p:sp>
        <p:nvSpPr>
          <p:cNvPr id="17" name="Rounded Rectangle 16"/>
          <p:cNvSpPr/>
          <p:nvPr/>
        </p:nvSpPr>
        <p:spPr>
          <a:xfrm>
            <a:off x="640080" y="3977640"/>
            <a:ext cx="10908792" cy="530352"/>
          </a:xfrm>
          <a:prstGeom prst="roundRect">
            <a:avLst>
              <a:gd name="adj" fmla="val 4000"/>
            </a:avLst>
          </a:prstGeom>
          <a:solidFill>
            <a:srgbClr val="131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977640"/>
            <a:ext cx="2651760" cy="530352"/>
          </a:xfrm>
          <a:prstGeom prst="rect">
            <a:avLst/>
          </a:prstGeom>
          <a:noFill/>
        </p:spPr>
        <p:txBody>
          <a:bodyPr wrap="square" anchor="ctr" lIns="0" rIns="0" tIns="0" bIns="0">
            <a:spAutoFit/>
          </a:bodyPr>
          <a:lstStyle/>
          <a:p>
            <a:pPr algn="l">
              <a:lnSpc>
                <a:spcPct val="100000"/>
              </a:lnSpc>
            </a:pPr>
            <a:r>
              <a:rPr sz="1300" b="1" i="0">
                <a:solidFill>
                  <a:srgbClr val="B6FF3C"/>
                </a:solidFill>
                <a:latin typeface="Arial Black"/>
              </a:rPr>
              <a:t>Fixtures API</a:t>
            </a:r>
          </a:p>
        </p:txBody>
      </p:sp>
      <p:sp>
        <p:nvSpPr>
          <p:cNvPr id="19" name="TextBox 18"/>
          <p:cNvSpPr txBox="1"/>
          <p:nvPr/>
        </p:nvSpPr>
        <p:spPr>
          <a:xfrm>
            <a:off x="3657600" y="3977640"/>
            <a:ext cx="7589520" cy="530352"/>
          </a:xfrm>
          <a:prstGeom prst="rect">
            <a:avLst/>
          </a:prstGeom>
          <a:noFill/>
        </p:spPr>
        <p:txBody>
          <a:bodyPr wrap="square" anchor="ctr" lIns="0" rIns="0" tIns="0" bIns="0">
            <a:spAutoFit/>
          </a:bodyPr>
          <a:lstStyle/>
          <a:p>
            <a:pPr algn="l">
              <a:lnSpc>
                <a:spcPct val="100000"/>
              </a:lnSpc>
            </a:pPr>
            <a:r>
              <a:rPr sz="1200" b="0" i="0">
                <a:solidFill>
                  <a:srgbClr val="E8EEF2"/>
                </a:solidFill>
                <a:latin typeface="Arial"/>
              </a:rPr>
              <a:t>GET /api/fixtures/upcoming → 200  (match 18257739 · Spain vs Argentina)</a:t>
            </a:r>
          </a:p>
        </p:txBody>
      </p:sp>
      <p:sp>
        <p:nvSpPr>
          <p:cNvPr id="20" name="Rounded Rectangle 19"/>
          <p:cNvSpPr/>
          <p:nvPr/>
        </p:nvSpPr>
        <p:spPr>
          <a:xfrm>
            <a:off x="640080" y="4526280"/>
            <a:ext cx="10908792" cy="530352"/>
          </a:xfrm>
          <a:prstGeom prst="roundRect">
            <a:avLst>
              <a:gd name="adj" fmla="val 4000"/>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4526280"/>
            <a:ext cx="2651760" cy="530352"/>
          </a:xfrm>
          <a:prstGeom prst="rect">
            <a:avLst/>
          </a:prstGeom>
          <a:noFill/>
        </p:spPr>
        <p:txBody>
          <a:bodyPr wrap="square" anchor="ctr" lIns="0" rIns="0" tIns="0" bIns="0">
            <a:spAutoFit/>
          </a:bodyPr>
          <a:lstStyle/>
          <a:p>
            <a:pPr algn="l">
              <a:lnSpc>
                <a:spcPct val="100000"/>
              </a:lnSpc>
            </a:pPr>
            <a:r>
              <a:rPr sz="1300" b="1" i="0">
                <a:solidFill>
                  <a:srgbClr val="B6FF3C"/>
                </a:solidFill>
                <a:latin typeface="Arial Black"/>
              </a:rPr>
              <a:t>Predictions API</a:t>
            </a:r>
          </a:p>
        </p:txBody>
      </p:sp>
      <p:sp>
        <p:nvSpPr>
          <p:cNvPr id="22" name="TextBox 21"/>
          <p:cNvSpPr txBox="1"/>
          <p:nvPr/>
        </p:nvSpPr>
        <p:spPr>
          <a:xfrm>
            <a:off x="3657600" y="4526280"/>
            <a:ext cx="7589520" cy="530352"/>
          </a:xfrm>
          <a:prstGeom prst="rect">
            <a:avLst/>
          </a:prstGeom>
          <a:noFill/>
        </p:spPr>
        <p:txBody>
          <a:bodyPr wrap="square" anchor="ctr" lIns="0" rIns="0" tIns="0" bIns="0">
            <a:spAutoFit/>
          </a:bodyPr>
          <a:lstStyle/>
          <a:p>
            <a:pPr algn="l">
              <a:lnSpc>
                <a:spcPct val="100000"/>
              </a:lnSpc>
            </a:pPr>
            <a:r>
              <a:rPr sz="1200" b="0" i="0">
                <a:solidFill>
                  <a:srgbClr val="E8EEF2"/>
                </a:solidFill>
                <a:latin typeface="Arial"/>
              </a:rPr>
              <a:t>POST /api/predictions → 200  (stamped with tx hash + on-chain blockTime)</a:t>
            </a:r>
          </a:p>
        </p:txBody>
      </p:sp>
      <p:sp>
        <p:nvSpPr>
          <p:cNvPr id="23" name="Rounded Rectangle 22"/>
          <p:cNvSpPr/>
          <p:nvPr/>
        </p:nvSpPr>
        <p:spPr>
          <a:xfrm>
            <a:off x="640080" y="5074920"/>
            <a:ext cx="10908792" cy="530352"/>
          </a:xfrm>
          <a:prstGeom prst="roundRect">
            <a:avLst>
              <a:gd name="adj" fmla="val 4000"/>
            </a:avLst>
          </a:prstGeom>
          <a:solidFill>
            <a:srgbClr val="131A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5074920"/>
            <a:ext cx="2651760" cy="530352"/>
          </a:xfrm>
          <a:prstGeom prst="rect">
            <a:avLst/>
          </a:prstGeom>
          <a:noFill/>
        </p:spPr>
        <p:txBody>
          <a:bodyPr wrap="square" anchor="ctr" lIns="0" rIns="0" tIns="0" bIns="0">
            <a:spAutoFit/>
          </a:bodyPr>
          <a:lstStyle/>
          <a:p>
            <a:pPr algn="l">
              <a:lnSpc>
                <a:spcPct val="100000"/>
              </a:lnSpc>
            </a:pPr>
            <a:r>
              <a:rPr sz="1300" b="1" i="0">
                <a:solidFill>
                  <a:srgbClr val="B6FF3C"/>
                </a:solidFill>
                <a:latin typeface="Arial Black"/>
              </a:rPr>
              <a:t>Health</a:t>
            </a:r>
          </a:p>
        </p:txBody>
      </p:sp>
      <p:sp>
        <p:nvSpPr>
          <p:cNvPr id="25" name="TextBox 24"/>
          <p:cNvSpPr txBox="1"/>
          <p:nvPr/>
        </p:nvSpPr>
        <p:spPr>
          <a:xfrm>
            <a:off x="3657600" y="5074920"/>
            <a:ext cx="7589520" cy="530352"/>
          </a:xfrm>
          <a:prstGeom prst="rect">
            <a:avLst/>
          </a:prstGeom>
          <a:noFill/>
        </p:spPr>
        <p:txBody>
          <a:bodyPr wrap="square" anchor="ctr" lIns="0" rIns="0" tIns="0" bIns="0">
            <a:spAutoFit/>
          </a:bodyPr>
          <a:lstStyle/>
          <a:p>
            <a:pPr algn="l">
              <a:lnSpc>
                <a:spcPct val="100000"/>
              </a:lnSpc>
            </a:pPr>
            <a:r>
              <a:rPr sz="1200" b="0" i="0">
                <a:solidFill>
                  <a:srgbClr val="E8EEF2"/>
                </a:solidFill>
                <a:latin typeface="Arial"/>
              </a:rPr>
              <a:t>GET /health → 200  (Railway · Node 22)</a:t>
            </a:r>
          </a:p>
        </p:txBody>
      </p:sp>
      <p:sp>
        <p:nvSpPr>
          <p:cNvPr id="26" name="Rounded Rectangle 25"/>
          <p:cNvSpPr/>
          <p:nvPr/>
        </p:nvSpPr>
        <p:spPr>
          <a:xfrm>
            <a:off x="640080" y="5623560"/>
            <a:ext cx="10908792" cy="530352"/>
          </a:xfrm>
          <a:prstGeom prst="roundRect">
            <a:avLst>
              <a:gd name="adj" fmla="val 4000"/>
            </a:avLst>
          </a:prstGeom>
          <a:solidFill>
            <a:srgbClr val="0B0F1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623560"/>
            <a:ext cx="2651760" cy="530352"/>
          </a:xfrm>
          <a:prstGeom prst="rect">
            <a:avLst/>
          </a:prstGeom>
          <a:noFill/>
        </p:spPr>
        <p:txBody>
          <a:bodyPr wrap="square" anchor="ctr" lIns="0" rIns="0" tIns="0" bIns="0">
            <a:spAutoFit/>
          </a:bodyPr>
          <a:lstStyle/>
          <a:p>
            <a:pPr algn="l">
              <a:lnSpc>
                <a:spcPct val="100000"/>
              </a:lnSpc>
            </a:pPr>
            <a:r>
              <a:rPr sz="1300" b="1" i="0">
                <a:solidFill>
                  <a:srgbClr val="B6FF3C"/>
                </a:solidFill>
                <a:latin typeface="Arial Black"/>
              </a:rPr>
              <a:t>Settlement worker</a:t>
            </a:r>
          </a:p>
        </p:txBody>
      </p:sp>
      <p:sp>
        <p:nvSpPr>
          <p:cNvPr id="28" name="TextBox 27"/>
          <p:cNvSpPr txBox="1"/>
          <p:nvPr/>
        </p:nvSpPr>
        <p:spPr>
          <a:xfrm>
            <a:off x="3657600" y="5623560"/>
            <a:ext cx="7589520" cy="530352"/>
          </a:xfrm>
          <a:prstGeom prst="rect">
            <a:avLst/>
          </a:prstGeom>
          <a:noFill/>
        </p:spPr>
        <p:txBody>
          <a:bodyPr wrap="square" anchor="ctr" lIns="0" rIns="0" tIns="0" bIns="0">
            <a:spAutoFit/>
          </a:bodyPr>
          <a:lstStyle/>
          <a:p>
            <a:pPr algn="l">
              <a:lnSpc>
                <a:spcPct val="100000"/>
              </a:lnSpc>
            </a:pPr>
            <a:r>
              <a:rPr sz="1200" b="0" i="0">
                <a:solidFill>
                  <a:srgbClr val="E8EEF2"/>
                </a:solidFill>
                <a:latin typeface="Arial"/>
              </a:rPr>
              <a:t>runs every 10s · settles provable markets in the 5-min window · pays winners on-chain</a:t>
            </a:r>
          </a:p>
        </p:txBody>
      </p:sp>
      <p:sp>
        <p:nvSpPr>
          <p:cNvPr id="29" name="TextBox 28"/>
          <p:cNvSpPr txBox="1"/>
          <p:nvPr/>
        </p:nvSpPr>
        <p:spPr>
          <a:xfrm>
            <a:off x="640080" y="6355080"/>
            <a:ext cx="10881360" cy="320040"/>
          </a:xfrm>
          <a:prstGeom prst="rect">
            <a:avLst/>
          </a:prstGeom>
          <a:noFill/>
        </p:spPr>
        <p:txBody>
          <a:bodyPr wrap="square" anchor="t" lIns="0" rIns="0" tIns="0" bIns="0">
            <a:spAutoFit/>
          </a:bodyPr>
          <a:lstStyle/>
          <a:p>
            <a:pPr algn="l">
              <a:lnSpc>
                <a:spcPct val="100000"/>
              </a:lnSpc>
            </a:pPr>
            <a:r>
              <a:rPr sz="1000" b="0" i="0">
                <a:solidFill>
                  <a:srgbClr val="8CA0A8"/>
                </a:solidFill>
                <a:latin typeface="Arial"/>
              </a:rPr>
              <a:t>All facts verified on Solana devnet · 2026-07-19 · currency in SOL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